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5" r:id="rId2"/>
    <p:sldId id="257" r:id="rId3"/>
    <p:sldId id="266" r:id="rId4"/>
    <p:sldId id="265" r:id="rId5"/>
    <p:sldId id="268" r:id="rId6"/>
    <p:sldId id="270" r:id="rId7"/>
    <p:sldId id="269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3" r:id="rId17"/>
    <p:sldId id="282" r:id="rId18"/>
    <p:sldId id="280" r:id="rId19"/>
    <p:sldId id="28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AE715C2-E8E4-4D8D-859B-E6B2BEF6AE8E}">
          <p14:sldIdLst>
            <p14:sldId id="285"/>
            <p14:sldId id="257"/>
          </p14:sldIdLst>
        </p14:section>
        <p14:section name="스킬 기획" id="{DFC42A1D-C7D6-48C1-9050-4B2287A0B4BC}">
          <p14:sldIdLst>
            <p14:sldId id="266"/>
            <p14:sldId id="265"/>
            <p14:sldId id="268"/>
            <p14:sldId id="270"/>
            <p14:sldId id="269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3"/>
            <p14:sldId id="282"/>
            <p14:sldId id="280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CCDA"/>
    <a:srgbClr val="595959"/>
    <a:srgbClr val="FFC000"/>
    <a:srgbClr val="B07BD7"/>
    <a:srgbClr val="7F7F7F"/>
    <a:srgbClr val="5A5A5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07" autoAdjust="0"/>
    <p:restoredTop sz="94731" autoAdjust="0"/>
  </p:normalViewPr>
  <p:slideViewPr>
    <p:cSldViewPr snapToGrid="0">
      <p:cViewPr>
        <p:scale>
          <a:sx n="75" d="100"/>
          <a:sy n="75" d="100"/>
        </p:scale>
        <p:origin x="1032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16D79-214B-47FD-B718-F6F6A5447ECB}" type="datetimeFigureOut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BD8D5-B3F2-46FF-B7BB-3499D203E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09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BD8D5-B3F2-46FF-B7BB-3499D203EBF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1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BD8D5-B3F2-46FF-B7BB-3499D203EBF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03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BD8D5-B3F2-46FF-B7BB-3499D203EBF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726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BD8D5-B3F2-46FF-B7BB-3499D203EBF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87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BD8D5-B3F2-46FF-B7BB-3499D203EBF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087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BD8D5-B3F2-46FF-B7BB-3499D203EBF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661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BD8D5-B3F2-46FF-B7BB-3499D203EBF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853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BD8D5-B3F2-46FF-B7BB-3499D203EBF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701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BD8D5-B3F2-46FF-B7BB-3499D203EBF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9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0857F-AAE0-4EF0-8ED3-C40B18E29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E919DD-E8FC-4559-BD59-E757DE723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07F5C3-B441-4DF2-B7FD-4DECB2F6A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40292-E46E-48EF-9700-30B03A100FDD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A1EFC-C5B4-4DD5-B9AC-0E3266E2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57C41-22CE-4680-B9AC-86BA87B5A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813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916-13CF-4EA5-B01B-0E14A22B4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51D253-C3AD-43CE-B74A-E0B4EF6A5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8EE9135-6CC6-4E5E-BED0-57D3AADDA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CBCCA-BC26-4D91-9467-D975A40855B6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46E898-D280-4D4A-B271-D01860FCF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B9C289-E894-4BA9-96F8-1672E0A0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169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5B6F5-8099-4EEF-8429-99B565520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812921-E9D4-4E66-A320-5CBCC99B2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9CB39-299A-4532-955B-BC4FDE808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3EF2-01F7-4A13-BE48-9CE421C2F028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00A8F5-2C15-4251-A743-AEAE45D5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1D74DB-5982-4817-8981-756FFB21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24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C9055C-3649-49CF-8620-64C75BE97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60B806-6F9D-475A-8AB5-F2D2BE735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874AE1-25BF-4AAD-B03B-E8D611468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104525-74FE-4036-A967-4B5529B1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A9E-AB1C-4B69-BA74-993D1A1C79BF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BC35BD-4985-4519-8C1B-DD0D9EC4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F775FA-4181-4EBD-BCB4-FD9ED4DF6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8737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7BABF-D9B6-44F2-9F14-235AF6BE4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8632A4-9C0C-4720-ACF5-021C29D9D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B037FC-4851-4EA3-8CDC-B0D8AC6A4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850244-5131-4FA6-BCD8-1B5771AEC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896C08-F7F4-409D-A13B-FA0399400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372FEC2-C710-4FC6-94BF-0F8C153D4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F46B-679D-4BB6-A4C4-831343225201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D93D10-C52A-468F-B3BF-1BBEE40A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334F3C-4011-4479-B146-82F6FF63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644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8AB37-1F39-457F-96CF-3C73B14BD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C3AD24-A4F7-43A8-AFAE-DD5F7E900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767F-70E2-4FF5-B547-D4BD89905153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A93BD8-676A-471A-8E97-4AA5662C5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019AF8-2EAA-43F2-9E96-316555B7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51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CDFC09-0751-4B02-91FE-4F487370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D3A89-A186-46C3-8984-66180AB4C4B1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0B6A02-A41F-4394-8A8F-55E4F863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B4635D-E22D-4ACE-ABD2-32327968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67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78F69-0054-4FA4-BCDA-A0A7E0DA9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BAF335-78BD-47EB-90C3-F90155B99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8FE36B-4C3C-419F-A1E5-2517FEE4B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1CEAC0-963B-48A0-8BD4-95F69940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415CF-1DB0-4B9F-954F-CF3AB32E2749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79E402-08A8-48FC-B8C3-5BA8C47A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19C262-4C09-48C6-A009-3878B1C8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79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5D416-5735-4C3E-BCCC-1FB746D0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955DAF-BECA-4607-9DA6-B4FF20947F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6E0F1B-216E-49A2-A23F-056C2A8B6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19FA3B-1D05-46EF-87E8-26B49D4E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9AC2-9C2B-4BD2-B828-7BA5B24E9CD3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AE7884-BD0D-49B4-8B51-8E120D99C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00698C-07DD-48E2-8661-1EC4CA7B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34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93A24-86CA-41BE-BD3F-1A43C20E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0936BF-D6C0-476B-998B-D42767783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CB7E33-8246-451E-9D9A-421B943E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2B0EB-38A1-4916-92DC-FBFE29662F81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0A0C4B-79AD-40A9-8022-E7B34EC8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5BCA3E-28D2-4C80-91D1-6138002C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909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611E0A8-DE66-4A33-9A89-F18CBFE89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646D60-69C0-4C59-AAA4-C85296B28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137F37-FE90-466A-A723-28AB1CCE1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36D1E-238F-4992-9EE5-B618CCFA3A6B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F04D5-BFDA-4E14-8095-EAB754DD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F55538-9498-4430-BDD8-8D1BBB84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250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45E3FF-51EA-4CB9-8686-A710A71E7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C6F7A2-F9BB-44EF-8018-F56BD3445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C58C7E-B0CE-468D-8701-3BB5B5A20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DC590-936C-4E99-BC27-E37F5036F18A}" type="datetime1">
              <a:rPr lang="ko-KR" altLang="en-US" smtClean="0"/>
              <a:t>2023-05-29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5EC271-A426-4E15-BAB3-ACD6553F7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1D55D3-5ADD-4632-A49B-1ED03869D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83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6EFB62DB-8117-4A4E-81D5-7925590A0D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767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10.xml"/><Relationship Id="rId3" Type="http://schemas.openxmlformats.org/officeDocument/2006/relationships/slide" Target="slide4.xml"/><Relationship Id="rId7" Type="http://schemas.openxmlformats.org/officeDocument/2006/relationships/slide" Target="slide16.xml"/><Relationship Id="rId12" Type="http://schemas.openxmlformats.org/officeDocument/2006/relationships/slide" Target="slide9.xml"/><Relationship Id="rId17" Type="http://schemas.openxmlformats.org/officeDocument/2006/relationships/slide" Target="slide14.xml"/><Relationship Id="rId2" Type="http://schemas.openxmlformats.org/officeDocument/2006/relationships/slide" Target="slide3.xml"/><Relationship Id="rId16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11" Type="http://schemas.openxmlformats.org/officeDocument/2006/relationships/slide" Target="slide8.xml"/><Relationship Id="rId5" Type="http://schemas.openxmlformats.org/officeDocument/2006/relationships/slide" Target="slide7.xml"/><Relationship Id="rId15" Type="http://schemas.openxmlformats.org/officeDocument/2006/relationships/slide" Target="slide12.xml"/><Relationship Id="rId10" Type="http://schemas.openxmlformats.org/officeDocument/2006/relationships/slide" Target="slide19.xml"/><Relationship Id="rId4" Type="http://schemas.openxmlformats.org/officeDocument/2006/relationships/slide" Target="slide5.xml"/><Relationship Id="rId9" Type="http://schemas.openxmlformats.org/officeDocument/2006/relationships/slide" Target="slide18.xml"/><Relationship Id="rId1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37CB7E21-8CF1-4B09-809E-EB459C78CA39}"/>
              </a:ext>
            </a:extLst>
          </p:cNvPr>
          <p:cNvSpPr txBox="1"/>
          <p:nvPr/>
        </p:nvSpPr>
        <p:spPr>
          <a:xfrm>
            <a:off x="683856" y="204577"/>
            <a:ext cx="10246962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7200" dirty="0">
                <a:solidFill>
                  <a:srgbClr val="595959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GAME DESIGN</a:t>
            </a:r>
          </a:p>
          <a:p>
            <a:r>
              <a:rPr lang="en-US" sz="7200" dirty="0">
                <a:solidFill>
                  <a:srgbClr val="595959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PORTFOLIO</a:t>
            </a:r>
            <a:endParaRPr lang="en-US" sz="10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5" name="그룹 1003">
            <a:extLst>
              <a:ext uri="{FF2B5EF4-FFF2-40B4-BE49-F238E27FC236}">
                <a16:creationId xmlns:a16="http://schemas.microsoft.com/office/drawing/2014/main" id="{776FC8DC-E4D7-48A7-AF3F-A17A511A0E26}"/>
              </a:ext>
            </a:extLst>
          </p:cNvPr>
          <p:cNvGrpSpPr/>
          <p:nvPr/>
        </p:nvGrpSpPr>
        <p:grpSpPr>
          <a:xfrm>
            <a:off x="683856" y="2335954"/>
            <a:ext cx="10898419" cy="176947"/>
            <a:chOff x="683856" y="2751401"/>
            <a:chExt cx="16918003" cy="176947"/>
          </a:xfrm>
        </p:grpSpPr>
        <p:pic>
          <p:nvPicPr>
            <p:cNvPr id="6" name="Object 11">
              <a:extLst>
                <a:ext uri="{FF2B5EF4-FFF2-40B4-BE49-F238E27FC236}">
                  <a16:creationId xmlns:a16="http://schemas.microsoft.com/office/drawing/2014/main" id="{1E7A16EA-3833-4741-8D8D-A8A7F5E19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856" y="2751401"/>
              <a:ext cx="16918003" cy="176947"/>
            </a:xfrm>
            <a:prstGeom prst="rect">
              <a:avLst/>
            </a:prstGeom>
          </p:spPr>
        </p:pic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77C02254-5F5D-4A96-BB0D-1EECC8BB25CC}"/>
              </a:ext>
            </a:extLst>
          </p:cNvPr>
          <p:cNvSpPr txBox="1"/>
          <p:nvPr/>
        </p:nvSpPr>
        <p:spPr>
          <a:xfrm>
            <a:off x="7666758" y="4644278"/>
            <a:ext cx="4067815" cy="3282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533" dirty="0">
                <a:solidFill>
                  <a:srgbClr val="595959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Gmarket Sans Bold" pitchFamily="34" charset="0"/>
              </a:rPr>
              <a:t>이병권 BYUNGKWON LEE</a:t>
            </a:r>
            <a:endParaRPr lang="en-US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FB05FD7-12EB-46A3-A1AC-AF24EE5BEB7B}"/>
              </a:ext>
            </a:extLst>
          </p:cNvPr>
          <p:cNvSpPr txBox="1"/>
          <p:nvPr/>
        </p:nvSpPr>
        <p:spPr>
          <a:xfrm>
            <a:off x="8989868" y="4964483"/>
            <a:ext cx="2744705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1200" dirty="0">
                <a:solidFill>
                  <a:srgbClr val="595959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Game Designer</a:t>
            </a:r>
          </a:p>
        </p:txBody>
      </p:sp>
      <p:grpSp>
        <p:nvGrpSpPr>
          <p:cNvPr id="11" name="그룹 1004">
            <a:extLst>
              <a:ext uri="{FF2B5EF4-FFF2-40B4-BE49-F238E27FC236}">
                <a16:creationId xmlns:a16="http://schemas.microsoft.com/office/drawing/2014/main" id="{96EA4BD0-0FB4-4882-9474-FC9934A96855}"/>
              </a:ext>
            </a:extLst>
          </p:cNvPr>
          <p:cNvGrpSpPr/>
          <p:nvPr/>
        </p:nvGrpSpPr>
        <p:grpSpPr>
          <a:xfrm>
            <a:off x="8018440" y="5425113"/>
            <a:ext cx="3716133" cy="424589"/>
            <a:chOff x="12027659" y="7243277"/>
            <a:chExt cx="5574200" cy="636884"/>
          </a:xfrm>
        </p:grpSpPr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DF686887-51DA-454A-8F32-B23A7A912496}"/>
                </a:ext>
              </a:extLst>
            </p:cNvPr>
            <p:cNvSpPr txBox="1"/>
            <p:nvPr/>
          </p:nvSpPr>
          <p:spPr>
            <a:xfrm>
              <a:off x="12027659" y="7510829"/>
              <a:ext cx="557420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sz="1000" dirty="0">
                  <a:solidFill>
                    <a:srgbClr val="595959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Gmarket Sans Medium" pitchFamily="34" charset="0"/>
                </a:rPr>
                <a:t>E-MAIL : lbk_0827@naver.com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9E4C6CA3-BEB7-4B67-B81F-7753E85E88D9}"/>
                </a:ext>
              </a:extLst>
            </p:cNvPr>
            <p:cNvSpPr txBox="1"/>
            <p:nvPr/>
          </p:nvSpPr>
          <p:spPr>
            <a:xfrm>
              <a:off x="12027659" y="7243277"/>
              <a:ext cx="557420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r"/>
              <a:r>
                <a:rPr lang="en-US" sz="1000" dirty="0">
                  <a:solidFill>
                    <a:srgbClr val="595959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Gmarket Sans Medium" pitchFamily="34" charset="0"/>
                </a:rPr>
                <a:t>PHONE : 010 7361 0073 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02CD52-5ABB-4095-BECC-EBEDC8DD8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3248B8FF-DDDA-4515-94AE-ED2DFF1F1390}"/>
              </a:ext>
            </a:extLst>
          </p:cNvPr>
          <p:cNvSpPr txBox="1"/>
          <p:nvPr/>
        </p:nvSpPr>
        <p:spPr>
          <a:xfrm>
            <a:off x="6760579" y="2424427"/>
            <a:ext cx="497399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7200" dirty="0">
                <a:solidFill>
                  <a:srgbClr val="595959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콘텐츠 기획</a:t>
            </a:r>
            <a:endParaRPr lang="en-US" altLang="ko-KR" sz="7200" dirty="0">
              <a:solidFill>
                <a:srgbClr val="595959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870E84B7-79F1-4FE5-B6BC-B594977C946D}"/>
              </a:ext>
            </a:extLst>
          </p:cNvPr>
          <p:cNvSpPr txBox="1"/>
          <p:nvPr/>
        </p:nvSpPr>
        <p:spPr>
          <a:xfrm>
            <a:off x="6608281" y="3402325"/>
            <a:ext cx="4973994" cy="6309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ko-KR" altLang="en-US" sz="35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</a:t>
            </a:r>
            <a:endParaRPr lang="en-US" altLang="ko-KR" sz="35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455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7F4BA3-6DDD-4726-A7BB-E01F10D58DD2}"/>
              </a:ext>
            </a:extLst>
          </p:cNvPr>
          <p:cNvSpPr txBox="1"/>
          <p:nvPr/>
        </p:nvSpPr>
        <p:spPr>
          <a:xfrm>
            <a:off x="693736" y="207627"/>
            <a:ext cx="4126839" cy="6996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목차</a:t>
            </a:r>
            <a:endParaRPr lang="en-US" altLang="ko-KR" sz="3600" b="1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endParaRPr lang="en-US" altLang="ko-KR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</a:t>
            </a:r>
            <a:r>
              <a:rPr lang="en-US" altLang="ko-KR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2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목차 클릭 시 이동</a:t>
            </a:r>
            <a:r>
              <a:rPr lang="en-US" altLang="ko-KR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개요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스킬의 차별성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작동 방식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정보 테이블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상세 설명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크레딧 스퀘어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코인 스퀘어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젬</a:t>
            </a: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스퀘어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트레저</a:t>
            </a: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스퀘어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싱글 </a:t>
            </a:r>
            <a:r>
              <a:rPr lang="ko-KR" altLang="en-US" sz="1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더블 코인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en-US" altLang="ko-KR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XP </a:t>
            </a: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스퀘어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더블 </a:t>
            </a:r>
            <a:r>
              <a:rPr lang="ko-KR" altLang="en-US" sz="1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더블 크레딧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슈퍼 차지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스타 스퀘어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와일드 </a:t>
            </a:r>
            <a:r>
              <a:rPr lang="ko-KR" altLang="en-US" sz="1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트리플</a:t>
            </a: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1257300" lvl="2" indent="-342900">
              <a:spcBef>
                <a:spcPts val="200"/>
              </a:spcBef>
              <a:spcAft>
                <a:spcPts val="200"/>
              </a:spcAft>
              <a:buFont typeface="+mj-ea"/>
              <a:buAutoNum type="circleNumDbPlain"/>
            </a:pPr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인스턴트 </a:t>
            </a:r>
            <a:r>
              <a:rPr lang="ko-KR" altLang="en-US" sz="12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buAutoNum type="arabicPeriod"/>
            </a:pP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966A97-42E1-4CC6-BBD5-24ED2CE8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직사각형 1">
            <a:hlinkClick r:id="rId2" action="ppaction://hlinksldjump"/>
            <a:extLst>
              <a:ext uri="{FF2B5EF4-FFF2-40B4-BE49-F238E27FC236}">
                <a16:creationId xmlns:a16="http://schemas.microsoft.com/office/drawing/2014/main" id="{1CCD4D6F-9E07-42E0-9189-600A2B17BF36}"/>
              </a:ext>
            </a:extLst>
          </p:cNvPr>
          <p:cNvSpPr/>
          <p:nvPr/>
        </p:nvSpPr>
        <p:spPr>
          <a:xfrm>
            <a:off x="1180730" y="1535838"/>
            <a:ext cx="2130641" cy="328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hlinkClick r:id="rId3" action="ppaction://hlinksldjump"/>
            <a:extLst>
              <a:ext uri="{FF2B5EF4-FFF2-40B4-BE49-F238E27FC236}">
                <a16:creationId xmlns:a16="http://schemas.microsoft.com/office/drawing/2014/main" id="{E7A01035-521F-4058-9215-EBDB7DFAEC9E}"/>
              </a:ext>
            </a:extLst>
          </p:cNvPr>
          <p:cNvSpPr/>
          <p:nvPr/>
        </p:nvSpPr>
        <p:spPr>
          <a:xfrm>
            <a:off x="1180729" y="1999695"/>
            <a:ext cx="2514971" cy="328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hlinkClick r:id="rId4" action="ppaction://hlinksldjump"/>
            <a:extLst>
              <a:ext uri="{FF2B5EF4-FFF2-40B4-BE49-F238E27FC236}">
                <a16:creationId xmlns:a16="http://schemas.microsoft.com/office/drawing/2014/main" id="{66A6EED4-0D70-4B15-94F9-3E3C54387DD0}"/>
              </a:ext>
            </a:extLst>
          </p:cNvPr>
          <p:cNvSpPr/>
          <p:nvPr/>
        </p:nvSpPr>
        <p:spPr>
          <a:xfrm>
            <a:off x="1180729" y="2355909"/>
            <a:ext cx="2629271" cy="328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hlinkClick r:id="rId5" action="ppaction://hlinksldjump"/>
            <a:extLst>
              <a:ext uri="{FF2B5EF4-FFF2-40B4-BE49-F238E27FC236}">
                <a16:creationId xmlns:a16="http://schemas.microsoft.com/office/drawing/2014/main" id="{C10353DD-3830-4D1D-8171-03467CB8ABC2}"/>
              </a:ext>
            </a:extLst>
          </p:cNvPr>
          <p:cNvSpPr/>
          <p:nvPr/>
        </p:nvSpPr>
        <p:spPr>
          <a:xfrm>
            <a:off x="1165342" y="2836924"/>
            <a:ext cx="2848346" cy="328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D4D57-7676-407E-8719-D058369077EA}"/>
              </a:ext>
            </a:extLst>
          </p:cNvPr>
          <p:cNvSpPr txBox="1"/>
          <p:nvPr/>
        </p:nvSpPr>
        <p:spPr>
          <a:xfrm>
            <a:off x="4956597" y="207625"/>
            <a:ext cx="4126839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3600" b="1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endParaRPr lang="en-US" altLang="ko-KR" dirty="0">
              <a:solidFill>
                <a:schemeClr val="bg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세트 개요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세트 설정 기준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세트 설정 방식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세트 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프로토타입</a:t>
            </a:r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등장 확률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buAutoNum type="arabicPeriod" startAt="6"/>
            </a:pP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L="800100" lvl="1" indent="-342900">
              <a:buAutoNum type="arabicPeriod" startAt="6"/>
            </a:pP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9" name="직사각형 8">
            <a:hlinkClick r:id="rId6" action="ppaction://hlinksldjump"/>
            <a:extLst>
              <a:ext uri="{FF2B5EF4-FFF2-40B4-BE49-F238E27FC236}">
                <a16:creationId xmlns:a16="http://schemas.microsoft.com/office/drawing/2014/main" id="{CC14F650-D8E3-4039-8651-C171BBE8FA90}"/>
              </a:ext>
            </a:extLst>
          </p:cNvPr>
          <p:cNvSpPr/>
          <p:nvPr/>
        </p:nvSpPr>
        <p:spPr>
          <a:xfrm>
            <a:off x="5438904" y="1132092"/>
            <a:ext cx="2848346" cy="328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hlinkClick r:id="rId7" action="ppaction://hlinksldjump"/>
            <a:extLst>
              <a:ext uri="{FF2B5EF4-FFF2-40B4-BE49-F238E27FC236}">
                <a16:creationId xmlns:a16="http://schemas.microsoft.com/office/drawing/2014/main" id="{82CAED01-D299-4399-9306-0535D6CA1F25}"/>
              </a:ext>
            </a:extLst>
          </p:cNvPr>
          <p:cNvSpPr/>
          <p:nvPr/>
        </p:nvSpPr>
        <p:spPr>
          <a:xfrm>
            <a:off x="5438904" y="1547807"/>
            <a:ext cx="3115046" cy="328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hlinkClick r:id="rId8" action="ppaction://hlinksldjump"/>
            <a:extLst>
              <a:ext uri="{FF2B5EF4-FFF2-40B4-BE49-F238E27FC236}">
                <a16:creationId xmlns:a16="http://schemas.microsoft.com/office/drawing/2014/main" id="{06284192-704E-41D2-A754-C9E33C414FA1}"/>
              </a:ext>
            </a:extLst>
          </p:cNvPr>
          <p:cNvSpPr/>
          <p:nvPr/>
        </p:nvSpPr>
        <p:spPr>
          <a:xfrm>
            <a:off x="5429379" y="1963522"/>
            <a:ext cx="3115046" cy="328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hlinkClick r:id="rId9" action="ppaction://hlinksldjump"/>
            <a:extLst>
              <a:ext uri="{FF2B5EF4-FFF2-40B4-BE49-F238E27FC236}">
                <a16:creationId xmlns:a16="http://schemas.microsoft.com/office/drawing/2014/main" id="{15997287-BB13-4537-8666-B5EB36C8E642}"/>
              </a:ext>
            </a:extLst>
          </p:cNvPr>
          <p:cNvSpPr/>
          <p:nvPr/>
        </p:nvSpPr>
        <p:spPr>
          <a:xfrm>
            <a:off x="5457806" y="2364309"/>
            <a:ext cx="3419993" cy="328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hlinkClick r:id="rId10" action="ppaction://hlinksldjump"/>
            <a:extLst>
              <a:ext uri="{FF2B5EF4-FFF2-40B4-BE49-F238E27FC236}">
                <a16:creationId xmlns:a16="http://schemas.microsoft.com/office/drawing/2014/main" id="{A2D3E92F-BF63-4F88-9F17-48E74C354A3D}"/>
              </a:ext>
            </a:extLst>
          </p:cNvPr>
          <p:cNvSpPr/>
          <p:nvPr/>
        </p:nvSpPr>
        <p:spPr>
          <a:xfrm>
            <a:off x="5457806" y="2761651"/>
            <a:ext cx="2610369" cy="3284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hlinkClick r:id="rId11" action="ppaction://hlinksldjump"/>
            <a:extLst>
              <a:ext uri="{FF2B5EF4-FFF2-40B4-BE49-F238E27FC236}">
                <a16:creationId xmlns:a16="http://schemas.microsoft.com/office/drawing/2014/main" id="{368EB08D-5BEA-4CA3-BC05-CB30B43E8644}"/>
              </a:ext>
            </a:extLst>
          </p:cNvPr>
          <p:cNvSpPr/>
          <p:nvPr/>
        </p:nvSpPr>
        <p:spPr>
          <a:xfrm>
            <a:off x="1191162" y="3165397"/>
            <a:ext cx="2618837" cy="3284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hlinkClick r:id="rId11" action="ppaction://hlinksldjump"/>
            <a:extLst>
              <a:ext uri="{FF2B5EF4-FFF2-40B4-BE49-F238E27FC236}">
                <a16:creationId xmlns:a16="http://schemas.microsoft.com/office/drawing/2014/main" id="{CFB554B3-FFC5-4749-B2ED-F0037AF874F6}"/>
              </a:ext>
            </a:extLst>
          </p:cNvPr>
          <p:cNvSpPr/>
          <p:nvPr/>
        </p:nvSpPr>
        <p:spPr>
          <a:xfrm>
            <a:off x="1584863" y="3509917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hlinkClick r:id="rId11" action="ppaction://hlinksldjump"/>
            <a:extLst>
              <a:ext uri="{FF2B5EF4-FFF2-40B4-BE49-F238E27FC236}">
                <a16:creationId xmlns:a16="http://schemas.microsoft.com/office/drawing/2014/main" id="{E5C057D8-03BA-4450-A54F-19263DA490B6}"/>
              </a:ext>
            </a:extLst>
          </p:cNvPr>
          <p:cNvSpPr/>
          <p:nvPr/>
        </p:nvSpPr>
        <p:spPr>
          <a:xfrm>
            <a:off x="1597563" y="3756820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hlinkClick r:id="rId12" action="ppaction://hlinksldjump"/>
            <a:extLst>
              <a:ext uri="{FF2B5EF4-FFF2-40B4-BE49-F238E27FC236}">
                <a16:creationId xmlns:a16="http://schemas.microsoft.com/office/drawing/2014/main" id="{D6DFAC21-E81C-49DB-811A-F38167D43CBB}"/>
              </a:ext>
            </a:extLst>
          </p:cNvPr>
          <p:cNvSpPr/>
          <p:nvPr/>
        </p:nvSpPr>
        <p:spPr>
          <a:xfrm>
            <a:off x="1597563" y="3997703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hlinkClick r:id="rId12" action="ppaction://hlinksldjump"/>
            <a:extLst>
              <a:ext uri="{FF2B5EF4-FFF2-40B4-BE49-F238E27FC236}">
                <a16:creationId xmlns:a16="http://schemas.microsoft.com/office/drawing/2014/main" id="{51300082-938E-4B9D-A5FA-99DCBFF718E9}"/>
              </a:ext>
            </a:extLst>
          </p:cNvPr>
          <p:cNvSpPr/>
          <p:nvPr/>
        </p:nvSpPr>
        <p:spPr>
          <a:xfrm>
            <a:off x="1597563" y="4239003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hlinkClick r:id="rId13" action="ppaction://hlinksldjump"/>
            <a:extLst>
              <a:ext uri="{FF2B5EF4-FFF2-40B4-BE49-F238E27FC236}">
                <a16:creationId xmlns:a16="http://schemas.microsoft.com/office/drawing/2014/main" id="{AD22EB56-62C8-4220-BBB1-171E5531989F}"/>
              </a:ext>
            </a:extLst>
          </p:cNvPr>
          <p:cNvSpPr/>
          <p:nvPr/>
        </p:nvSpPr>
        <p:spPr>
          <a:xfrm>
            <a:off x="1597563" y="4467603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hlinkClick r:id="rId13" action="ppaction://hlinksldjump"/>
            <a:extLst>
              <a:ext uri="{FF2B5EF4-FFF2-40B4-BE49-F238E27FC236}">
                <a16:creationId xmlns:a16="http://schemas.microsoft.com/office/drawing/2014/main" id="{F57F63C6-7CC7-4DF9-B4E2-D2F742CEDC56}"/>
              </a:ext>
            </a:extLst>
          </p:cNvPr>
          <p:cNvSpPr/>
          <p:nvPr/>
        </p:nvSpPr>
        <p:spPr>
          <a:xfrm>
            <a:off x="1597563" y="4685159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hlinkClick r:id="rId14" action="ppaction://hlinksldjump"/>
            <a:extLst>
              <a:ext uri="{FF2B5EF4-FFF2-40B4-BE49-F238E27FC236}">
                <a16:creationId xmlns:a16="http://schemas.microsoft.com/office/drawing/2014/main" id="{624F0AF7-BDDD-4846-9616-D1B1480C9211}"/>
              </a:ext>
            </a:extLst>
          </p:cNvPr>
          <p:cNvSpPr/>
          <p:nvPr/>
        </p:nvSpPr>
        <p:spPr>
          <a:xfrm>
            <a:off x="1597563" y="4913759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hlinkClick r:id="rId14" action="ppaction://hlinksldjump"/>
            <a:extLst>
              <a:ext uri="{FF2B5EF4-FFF2-40B4-BE49-F238E27FC236}">
                <a16:creationId xmlns:a16="http://schemas.microsoft.com/office/drawing/2014/main" id="{3BE36288-F2B0-43A0-BE78-6585991D1DBB}"/>
              </a:ext>
            </a:extLst>
          </p:cNvPr>
          <p:cNvSpPr/>
          <p:nvPr/>
        </p:nvSpPr>
        <p:spPr>
          <a:xfrm>
            <a:off x="1597563" y="5168121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hlinkClick r:id="rId15" action="ppaction://hlinksldjump"/>
            <a:extLst>
              <a:ext uri="{FF2B5EF4-FFF2-40B4-BE49-F238E27FC236}">
                <a16:creationId xmlns:a16="http://schemas.microsoft.com/office/drawing/2014/main" id="{17AB7D99-954F-4F61-8297-283719450F43}"/>
              </a:ext>
            </a:extLst>
          </p:cNvPr>
          <p:cNvSpPr/>
          <p:nvPr/>
        </p:nvSpPr>
        <p:spPr>
          <a:xfrm>
            <a:off x="1597563" y="5402571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hlinkClick r:id="rId15" action="ppaction://hlinksldjump"/>
            <a:extLst>
              <a:ext uri="{FF2B5EF4-FFF2-40B4-BE49-F238E27FC236}">
                <a16:creationId xmlns:a16="http://schemas.microsoft.com/office/drawing/2014/main" id="{9C8B9285-5568-4E12-A896-8FD5C321D2EB}"/>
              </a:ext>
            </a:extLst>
          </p:cNvPr>
          <p:cNvSpPr/>
          <p:nvPr/>
        </p:nvSpPr>
        <p:spPr>
          <a:xfrm>
            <a:off x="1597563" y="5639154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hlinkClick r:id="rId16" action="ppaction://hlinksldjump"/>
            <a:extLst>
              <a:ext uri="{FF2B5EF4-FFF2-40B4-BE49-F238E27FC236}">
                <a16:creationId xmlns:a16="http://schemas.microsoft.com/office/drawing/2014/main" id="{C3775162-3FEC-4EC0-9D40-9AB711BAB5DD}"/>
              </a:ext>
            </a:extLst>
          </p:cNvPr>
          <p:cNvSpPr/>
          <p:nvPr/>
        </p:nvSpPr>
        <p:spPr>
          <a:xfrm>
            <a:off x="1597563" y="5873604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hlinkClick r:id="rId16" action="ppaction://hlinksldjump"/>
            <a:extLst>
              <a:ext uri="{FF2B5EF4-FFF2-40B4-BE49-F238E27FC236}">
                <a16:creationId xmlns:a16="http://schemas.microsoft.com/office/drawing/2014/main" id="{135C5242-675C-42F0-9D26-DFE4B07B5D06}"/>
              </a:ext>
            </a:extLst>
          </p:cNvPr>
          <p:cNvSpPr/>
          <p:nvPr/>
        </p:nvSpPr>
        <p:spPr>
          <a:xfrm>
            <a:off x="1597563" y="6110187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hlinkClick r:id="rId17" action="ppaction://hlinksldjump"/>
            <a:extLst>
              <a:ext uri="{FF2B5EF4-FFF2-40B4-BE49-F238E27FC236}">
                <a16:creationId xmlns:a16="http://schemas.microsoft.com/office/drawing/2014/main" id="{2D789C93-FCCA-47C8-82A1-FF4AB7584449}"/>
              </a:ext>
            </a:extLst>
          </p:cNvPr>
          <p:cNvSpPr/>
          <p:nvPr/>
        </p:nvSpPr>
        <p:spPr>
          <a:xfrm>
            <a:off x="1597563" y="6344637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hlinkClick r:id="rId17" action="ppaction://hlinksldjump"/>
            <a:extLst>
              <a:ext uri="{FF2B5EF4-FFF2-40B4-BE49-F238E27FC236}">
                <a16:creationId xmlns:a16="http://schemas.microsoft.com/office/drawing/2014/main" id="{2CF64A6C-5313-4A26-B4A1-94A5A05D9A54}"/>
              </a:ext>
            </a:extLst>
          </p:cNvPr>
          <p:cNvSpPr/>
          <p:nvPr/>
        </p:nvSpPr>
        <p:spPr>
          <a:xfrm>
            <a:off x="1597563" y="6570900"/>
            <a:ext cx="1450438" cy="2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514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8800EA-BA49-4309-91AB-9AE95954FA46}"/>
              </a:ext>
            </a:extLst>
          </p:cNvPr>
          <p:cNvSpPr txBox="1"/>
          <p:nvPr/>
        </p:nvSpPr>
        <p:spPr>
          <a:xfrm>
            <a:off x="2047342" y="884195"/>
            <a:ext cx="784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빙고 </a:t>
            </a:r>
            <a:r>
              <a:rPr lang="ko-KR" altLang="en-US" sz="14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헤이븐</a:t>
            </a:r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인게임에서 가디언 스킬 기획 목적은 다음과 같음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CACB71E-ACE7-49A2-A352-C1828ED5D0C6}"/>
              </a:ext>
            </a:extLst>
          </p:cNvPr>
          <p:cNvSpPr/>
          <p:nvPr/>
        </p:nvSpPr>
        <p:spPr>
          <a:xfrm>
            <a:off x="5253136" y="1618685"/>
            <a:ext cx="1524000" cy="152400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스킬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212B038-FE82-4395-8299-A9A29B4F6910}"/>
              </a:ext>
            </a:extLst>
          </p:cNvPr>
          <p:cNvSpPr/>
          <p:nvPr/>
        </p:nvSpPr>
        <p:spPr>
          <a:xfrm>
            <a:off x="5253136" y="4080919"/>
            <a:ext cx="1524000" cy="1524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재미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0238E8D-2763-440E-A504-96BA97FA2439}"/>
              </a:ext>
            </a:extLst>
          </p:cNvPr>
          <p:cNvSpPr/>
          <p:nvPr/>
        </p:nvSpPr>
        <p:spPr>
          <a:xfrm>
            <a:off x="7539135" y="3142685"/>
            <a:ext cx="1524000" cy="1524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경쟁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D9334DB-C01F-4054-A2CE-6025E3F0551B}"/>
              </a:ext>
            </a:extLst>
          </p:cNvPr>
          <p:cNvSpPr/>
          <p:nvPr/>
        </p:nvSpPr>
        <p:spPr>
          <a:xfrm>
            <a:off x="2967137" y="3142685"/>
            <a:ext cx="1524000" cy="1524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난이도</a:t>
            </a:r>
            <a:endParaRPr lang="en-US" altLang="ko-KR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조절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854BCAE-636E-45F3-8CAF-A1DFB24E89F8}"/>
              </a:ext>
            </a:extLst>
          </p:cNvPr>
          <p:cNvCxnSpPr>
            <a:cxnSpLocks/>
            <a:stCxn id="2" idx="4"/>
            <a:endCxn id="26" idx="0"/>
          </p:cNvCxnSpPr>
          <p:nvPr/>
        </p:nvCxnSpPr>
        <p:spPr>
          <a:xfrm>
            <a:off x="6015136" y="3142685"/>
            <a:ext cx="0" cy="93823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75CCDC7-5FAB-42CD-8A5D-33FD4CFFFFD6}"/>
              </a:ext>
            </a:extLst>
          </p:cNvPr>
          <p:cNvCxnSpPr>
            <a:stCxn id="28" idx="7"/>
            <a:endCxn id="2" idx="3"/>
          </p:cNvCxnSpPr>
          <p:nvPr/>
        </p:nvCxnSpPr>
        <p:spPr>
          <a:xfrm flipV="1">
            <a:off x="4267952" y="2919500"/>
            <a:ext cx="1208369" cy="44637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721431D-759D-4567-AD65-AD8FD862C4B1}"/>
              </a:ext>
            </a:extLst>
          </p:cNvPr>
          <p:cNvCxnSpPr>
            <a:stCxn id="27" idx="1"/>
            <a:endCxn id="2" idx="5"/>
          </p:cNvCxnSpPr>
          <p:nvPr/>
        </p:nvCxnSpPr>
        <p:spPr>
          <a:xfrm flipH="1" flipV="1">
            <a:off x="6553951" y="2919500"/>
            <a:ext cx="1208369" cy="44637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3216CF8-7A8C-4BD4-A183-4F8E462678B6}"/>
              </a:ext>
            </a:extLst>
          </p:cNvPr>
          <p:cNvSpPr txBox="1"/>
          <p:nvPr/>
        </p:nvSpPr>
        <p:spPr>
          <a:xfrm>
            <a:off x="2175069" y="5696435"/>
            <a:ext cx="7840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빙고 스킬을 사용하는 데 있어서 오는 쾌감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ctr">
              <a:buFontTx/>
              <a:buChar char="-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단번에 승기를 잡는 상황 제공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ctr">
              <a:buFontTx/>
              <a:buChar char="-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게임 결과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정산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페이즈에서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보다 많은 재화 획득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991C62-1606-41E7-811E-C68D85C5F1CD}"/>
              </a:ext>
            </a:extLst>
          </p:cNvPr>
          <p:cNvSpPr txBox="1"/>
          <p:nvPr/>
        </p:nvSpPr>
        <p:spPr>
          <a:xfrm>
            <a:off x="2500146" y="4826541"/>
            <a:ext cx="2457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싱글 플레이 진행 시</a:t>
            </a:r>
            <a:b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</a:b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높은 난이도를 수월하게 클리어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하도록 서포트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39201F-C968-4DB3-A932-A95E1A830BFC}"/>
              </a:ext>
            </a:extLst>
          </p:cNvPr>
          <p:cNvSpPr txBox="1"/>
          <p:nvPr/>
        </p:nvSpPr>
        <p:spPr>
          <a:xfrm>
            <a:off x="7072144" y="4826541"/>
            <a:ext cx="2457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상대와의 경쟁에서 우위를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algn="ctr"/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점하기 위한 스킬 사용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C85D8E4-6997-45A0-85A0-A475EEA2B6FE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48" name="Object 52">
              <a:extLst>
                <a:ext uri="{FF2B5EF4-FFF2-40B4-BE49-F238E27FC236}">
                  <a16:creationId xmlns:a16="http://schemas.microsoft.com/office/drawing/2014/main" id="{7E3FD4F8-DD47-471B-94B4-38B1038E45F2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1.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개요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49" name="Object 52">
              <a:extLst>
                <a:ext uri="{FF2B5EF4-FFF2-40B4-BE49-F238E27FC236}">
                  <a16:creationId xmlns:a16="http://schemas.microsoft.com/office/drawing/2014/main" id="{7999D234-E698-4CAC-8F4D-1E5C1ED6D118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DCD3C9-FAD9-4037-960F-BAF6C90B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EFB62DB-8117-4A4E-81D5-7925590A0D95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707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8800EA-BA49-4309-91AB-9AE95954FA46}"/>
              </a:ext>
            </a:extLst>
          </p:cNvPr>
          <p:cNvSpPr txBox="1"/>
          <p:nvPr/>
        </p:nvSpPr>
        <p:spPr>
          <a:xfrm>
            <a:off x="2175069" y="884195"/>
            <a:ext cx="784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타 빙고 게임과 차별성을 두기 위해 </a:t>
            </a:r>
            <a:r>
              <a:rPr lang="en-US" altLang="ko-KR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‘</a:t>
            </a:r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</a:t>
            </a:r>
            <a:r>
              <a:rPr lang="en-US" altLang="ko-KR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펫</a:t>
            </a:r>
            <a:r>
              <a:rPr lang="en-US" altLang="ko-KR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)’</a:t>
            </a:r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 스킬을 사용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FCA4F91-7AA4-4569-9E05-09FF6766AF01}"/>
              </a:ext>
            </a:extLst>
          </p:cNvPr>
          <p:cNvSpPr/>
          <p:nvPr/>
        </p:nvSpPr>
        <p:spPr>
          <a:xfrm>
            <a:off x="685800" y="1601668"/>
            <a:ext cx="5086350" cy="42351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2CDAAF60-E1FF-402D-88E0-83D1261F7DC7}"/>
              </a:ext>
            </a:extLst>
          </p:cNvPr>
          <p:cNvSpPr/>
          <p:nvPr/>
        </p:nvSpPr>
        <p:spPr>
          <a:xfrm>
            <a:off x="695325" y="5078198"/>
            <a:ext cx="5076825" cy="758647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화살표: 갈매기형 수장 80">
            <a:extLst>
              <a:ext uri="{FF2B5EF4-FFF2-40B4-BE49-F238E27FC236}">
                <a16:creationId xmlns:a16="http://schemas.microsoft.com/office/drawing/2014/main" id="{88B57EF7-F44A-487B-A76F-B5D78B7D12F2}"/>
              </a:ext>
            </a:extLst>
          </p:cNvPr>
          <p:cNvSpPr/>
          <p:nvPr/>
        </p:nvSpPr>
        <p:spPr>
          <a:xfrm>
            <a:off x="766906" y="5221130"/>
            <a:ext cx="258618" cy="473482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화살표: 갈매기형 수장 81">
            <a:extLst>
              <a:ext uri="{FF2B5EF4-FFF2-40B4-BE49-F238E27FC236}">
                <a16:creationId xmlns:a16="http://schemas.microsoft.com/office/drawing/2014/main" id="{8C5C4994-4C76-47F9-8D50-43BA04FE2FAB}"/>
              </a:ext>
            </a:extLst>
          </p:cNvPr>
          <p:cNvSpPr/>
          <p:nvPr/>
        </p:nvSpPr>
        <p:spPr>
          <a:xfrm>
            <a:off x="967796" y="5221130"/>
            <a:ext cx="258618" cy="473482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2B1A09-071C-4604-BA51-88088AFEC6C2}"/>
              </a:ext>
            </a:extLst>
          </p:cNvPr>
          <p:cNvSpPr txBox="1"/>
          <p:nvPr/>
        </p:nvSpPr>
        <p:spPr>
          <a:xfrm>
            <a:off x="1226413" y="5325551"/>
            <a:ext cx="4536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다양한 등급의 스킬을 사용하는 데 제약이 존재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65B42E2-6402-43A9-906E-07D1CF181BF9}"/>
              </a:ext>
            </a:extLst>
          </p:cNvPr>
          <p:cNvSpPr txBox="1"/>
          <p:nvPr/>
        </p:nvSpPr>
        <p:spPr>
          <a:xfrm>
            <a:off x="757381" y="1732475"/>
            <a:ext cx="490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타사 빙고 게임</a:t>
            </a:r>
            <a:r>
              <a:rPr lang="en-US" altLang="ko-KR" b="1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r>
              <a:rPr lang="en-US" altLang="ko-KR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아이템 사용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BB4510-D09B-4887-B61B-5E63732845D7}"/>
              </a:ext>
            </a:extLst>
          </p:cNvPr>
          <p:cNvSpPr txBox="1"/>
          <p:nvPr/>
        </p:nvSpPr>
        <p:spPr>
          <a:xfrm>
            <a:off x="2323489" y="2205963"/>
            <a:ext cx="34391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현재 빙고 게임 시장에 존재하는 빙고 게임은 아이템을 구입하여 사용하는 방식 채택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아이템 사용 시 단순 아이템 사용 연출만 존재하여 몰입감이 크지 않음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아이템 구입은 가챠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en-US" altLang="ko-KR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Gacha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방식이기 때문에  높은 등급의 아이템을 획득하기 어려움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높은 등급의 아이템을 획득하기 어려운 만큼 라이트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무과금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중소과금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유저들은 해당 아이템을 사용할 기회가 많지 않음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3F9BC7F5-CF0F-4B92-B3A2-B649C62A5D3F}"/>
              </a:ext>
            </a:extLst>
          </p:cNvPr>
          <p:cNvSpPr/>
          <p:nvPr/>
        </p:nvSpPr>
        <p:spPr>
          <a:xfrm>
            <a:off x="6410325" y="1589135"/>
            <a:ext cx="5086350" cy="42351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26DFF34-20F9-4D73-8740-D907A486A106}"/>
              </a:ext>
            </a:extLst>
          </p:cNvPr>
          <p:cNvSpPr/>
          <p:nvPr/>
        </p:nvSpPr>
        <p:spPr>
          <a:xfrm>
            <a:off x="6419850" y="5062993"/>
            <a:ext cx="5076825" cy="761319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화살표: 갈매기형 수장 87">
            <a:extLst>
              <a:ext uri="{FF2B5EF4-FFF2-40B4-BE49-F238E27FC236}">
                <a16:creationId xmlns:a16="http://schemas.microsoft.com/office/drawing/2014/main" id="{140793AF-AAEE-4F01-8A64-9797EF425335}"/>
              </a:ext>
            </a:extLst>
          </p:cNvPr>
          <p:cNvSpPr/>
          <p:nvPr/>
        </p:nvSpPr>
        <p:spPr>
          <a:xfrm>
            <a:off x="6491431" y="5206429"/>
            <a:ext cx="258618" cy="475150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화살표: 갈매기형 수장 88">
            <a:extLst>
              <a:ext uri="{FF2B5EF4-FFF2-40B4-BE49-F238E27FC236}">
                <a16:creationId xmlns:a16="http://schemas.microsoft.com/office/drawing/2014/main" id="{C6E211B1-FF5C-45DA-9213-E8A617C5C806}"/>
              </a:ext>
            </a:extLst>
          </p:cNvPr>
          <p:cNvSpPr/>
          <p:nvPr/>
        </p:nvSpPr>
        <p:spPr>
          <a:xfrm>
            <a:off x="6692321" y="5206429"/>
            <a:ext cx="258618" cy="475150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84ACD72-5B83-4841-9E91-3A84723B1823}"/>
              </a:ext>
            </a:extLst>
          </p:cNvPr>
          <p:cNvSpPr txBox="1"/>
          <p:nvPr/>
        </p:nvSpPr>
        <p:spPr>
          <a:xfrm>
            <a:off x="6950938" y="5313108"/>
            <a:ext cx="4435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다양한 등급의 스킬을 횟수 제한 없이 사용 가능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E4473CA-9DCF-427C-858F-03D2EEBD4CA9}"/>
              </a:ext>
            </a:extLst>
          </p:cNvPr>
          <p:cNvSpPr txBox="1"/>
          <p:nvPr/>
        </p:nvSpPr>
        <p:spPr>
          <a:xfrm>
            <a:off x="6481906" y="1720403"/>
            <a:ext cx="490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빙고 </a:t>
            </a:r>
            <a:r>
              <a:rPr lang="ko-KR" altLang="en-US" b="1" dirty="0" err="1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헤이븐</a:t>
            </a:r>
            <a:r>
              <a:rPr lang="en-US" altLang="ko-KR" b="1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사용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B774878-15C7-4012-A4E2-B9D7A9F33958}"/>
              </a:ext>
            </a:extLst>
          </p:cNvPr>
          <p:cNvSpPr txBox="1"/>
          <p:nvPr/>
        </p:nvSpPr>
        <p:spPr>
          <a:xfrm>
            <a:off x="8782051" y="2205963"/>
            <a:ext cx="27241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가디언은 모든 등급의 스킬을 가지고 있으며 각 등급의 스킬 등장 확률 상이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스킬을 사용하면 인게임에 가디언이 등장하여 마법을 사용하는 연출로 몰입도  ↑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빙고 게임 한 판 진행하는데 출전 코스트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임시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 들며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게임 안에서는 자유롭게 모든 스킬 사용 가능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가디언은 한 번 획득하면 영원히 사용 가능 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5DB4176-5FB3-498A-AE6E-86C286D4D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57" y="2228176"/>
            <a:ext cx="1504054" cy="2676387"/>
          </a:xfrm>
          <a:prstGeom prst="rect">
            <a:avLst/>
          </a:prstGeom>
          <a:ln w="50800">
            <a:solidFill>
              <a:srgbClr val="FF0000"/>
            </a:solidFill>
          </a:ln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AA27C317-2E29-4B29-8671-BB03811C2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895" y="2368425"/>
            <a:ext cx="2202598" cy="235591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8934CB5-C153-4859-B163-3B50FC0E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4</a:t>
            </a:fld>
            <a:endParaRPr lang="ko-KR" altLang="en-US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3F931A9-C279-4540-A32B-A555519A8E92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25" name="Object 52">
              <a:extLst>
                <a:ext uri="{FF2B5EF4-FFF2-40B4-BE49-F238E27FC236}">
                  <a16:creationId xmlns:a16="http://schemas.microsoft.com/office/drawing/2014/main" id="{DED6514D-53F3-4C58-895E-C1C4D1D98800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2.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차별성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9" name="Object 52">
              <a:extLst>
                <a:ext uri="{FF2B5EF4-FFF2-40B4-BE49-F238E27FC236}">
                  <a16:creationId xmlns:a16="http://schemas.microsoft.com/office/drawing/2014/main" id="{A3E66D0D-1844-422F-B161-06C4E7E7BAA6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542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8800EA-BA49-4309-91AB-9AE95954FA46}"/>
              </a:ext>
            </a:extLst>
          </p:cNvPr>
          <p:cNvSpPr txBox="1"/>
          <p:nvPr/>
        </p:nvSpPr>
        <p:spPr>
          <a:xfrm>
            <a:off x="2175069" y="930934"/>
            <a:ext cx="784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빙고 스킬 게이지가 가득 채워지면 확률에 따라 가디언이 지닌 스킬 중 </a:t>
            </a:r>
            <a:r>
              <a:rPr lang="en-US" altLang="ko-KR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 사용 가능 상태가 됨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4A1F2964-34A6-4752-9B67-072CE8FF2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463930"/>
              </p:ext>
            </p:extLst>
          </p:nvPr>
        </p:nvGraphicFramePr>
        <p:xfrm>
          <a:off x="289216" y="2572712"/>
          <a:ext cx="2893240" cy="2893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8648">
                  <a:extLst>
                    <a:ext uri="{9D8B030D-6E8A-4147-A177-3AD203B41FA5}">
                      <a16:colId xmlns:a16="http://schemas.microsoft.com/office/drawing/2014/main" val="668990564"/>
                    </a:ext>
                  </a:extLst>
                </a:gridCol>
                <a:gridCol w="578648">
                  <a:extLst>
                    <a:ext uri="{9D8B030D-6E8A-4147-A177-3AD203B41FA5}">
                      <a16:colId xmlns:a16="http://schemas.microsoft.com/office/drawing/2014/main" val="3299705747"/>
                    </a:ext>
                  </a:extLst>
                </a:gridCol>
                <a:gridCol w="578648">
                  <a:extLst>
                    <a:ext uri="{9D8B030D-6E8A-4147-A177-3AD203B41FA5}">
                      <a16:colId xmlns:a16="http://schemas.microsoft.com/office/drawing/2014/main" val="1476304806"/>
                    </a:ext>
                  </a:extLst>
                </a:gridCol>
                <a:gridCol w="578648">
                  <a:extLst>
                    <a:ext uri="{9D8B030D-6E8A-4147-A177-3AD203B41FA5}">
                      <a16:colId xmlns:a16="http://schemas.microsoft.com/office/drawing/2014/main" val="1938919709"/>
                    </a:ext>
                  </a:extLst>
                </a:gridCol>
                <a:gridCol w="578648">
                  <a:extLst>
                    <a:ext uri="{9D8B030D-6E8A-4147-A177-3AD203B41FA5}">
                      <a16:colId xmlns:a16="http://schemas.microsoft.com/office/drawing/2014/main" val="630486322"/>
                    </a:ext>
                  </a:extLst>
                </a:gridCol>
              </a:tblGrid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FB7F7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I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FF973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A2EB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G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83DC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O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C6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143509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20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41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55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73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587932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14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24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38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46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71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915352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25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37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53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70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012638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13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16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43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47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74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701462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29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32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52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62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397037"/>
                  </a:ext>
                </a:extLst>
              </a:tr>
            </a:tbl>
          </a:graphicData>
        </a:graphic>
      </p:graphicFrame>
      <p:sp>
        <p:nvSpPr>
          <p:cNvPr id="30" name="타원 29">
            <a:extLst>
              <a:ext uri="{FF2B5EF4-FFF2-40B4-BE49-F238E27FC236}">
                <a16:creationId xmlns:a16="http://schemas.microsoft.com/office/drawing/2014/main" id="{0295B08B-00B8-41FC-8F90-7F370A74215A}"/>
              </a:ext>
            </a:extLst>
          </p:cNvPr>
          <p:cNvSpPr/>
          <p:nvPr/>
        </p:nvSpPr>
        <p:spPr>
          <a:xfrm>
            <a:off x="2070706" y="4509450"/>
            <a:ext cx="473292" cy="4732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C11F0F5-C57C-4D8D-A481-F408B18F4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6680" l="9961" r="89844">
                        <a14:foregroundMark x1="66211" y1="96680" x2="66211" y2="966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02903">
            <a:off x="1989609" y="4528080"/>
            <a:ext cx="1073760" cy="1073760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F50B56F1-2FAF-423F-9E55-1942FF4A2FD7}"/>
              </a:ext>
            </a:extLst>
          </p:cNvPr>
          <p:cNvSpPr/>
          <p:nvPr/>
        </p:nvSpPr>
        <p:spPr>
          <a:xfrm>
            <a:off x="1429403" y="1860504"/>
            <a:ext cx="571500" cy="571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47</a:t>
            </a:r>
            <a:endParaRPr lang="ko-KR" altLang="en-US" sz="1400" b="1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8C14DB0-9A0A-4599-BE74-AD6F14023131}"/>
              </a:ext>
            </a:extLst>
          </p:cNvPr>
          <p:cNvSpPr/>
          <p:nvPr/>
        </p:nvSpPr>
        <p:spPr>
          <a:xfrm>
            <a:off x="1290638" y="1782696"/>
            <a:ext cx="914400" cy="7334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40847F4-8864-4DF8-A6AD-DB492E89E604}"/>
              </a:ext>
            </a:extLst>
          </p:cNvPr>
          <p:cNvSpPr/>
          <p:nvPr/>
        </p:nvSpPr>
        <p:spPr>
          <a:xfrm>
            <a:off x="1347788" y="1477897"/>
            <a:ext cx="342899" cy="308016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</a:t>
            </a:r>
            <a:endParaRPr lang="ko-KR" altLang="en-US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B8DEE81-DF2B-4278-806D-BD7FFE2A08EB}"/>
              </a:ext>
            </a:extLst>
          </p:cNvPr>
          <p:cNvSpPr/>
          <p:nvPr/>
        </p:nvSpPr>
        <p:spPr>
          <a:xfrm>
            <a:off x="1848274" y="4386745"/>
            <a:ext cx="1366413" cy="127741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A9EB074-0075-4B65-A5F1-F7F71B74CE21}"/>
              </a:ext>
            </a:extLst>
          </p:cNvPr>
          <p:cNvSpPr/>
          <p:nvPr/>
        </p:nvSpPr>
        <p:spPr>
          <a:xfrm>
            <a:off x="2000903" y="4085825"/>
            <a:ext cx="342899" cy="308016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</a:t>
            </a:r>
            <a:endParaRPr lang="ko-KR" altLang="en-US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ECBADA1-0B9E-41FC-A370-27A691C62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852" y="2980154"/>
            <a:ext cx="1704975" cy="17049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CB5736-05BD-42F4-A593-FC33F9B093ED}"/>
              </a:ext>
            </a:extLst>
          </p:cNvPr>
          <p:cNvSpPr txBox="1"/>
          <p:nvPr/>
        </p:nvSpPr>
        <p:spPr>
          <a:xfrm>
            <a:off x="4657578" y="3652757"/>
            <a:ext cx="120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CHARGING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8FA9D3C-8840-4459-8D59-248FFD225952}"/>
              </a:ext>
            </a:extLst>
          </p:cNvPr>
          <p:cNvSpPr/>
          <p:nvPr/>
        </p:nvSpPr>
        <p:spPr>
          <a:xfrm>
            <a:off x="4597410" y="4993683"/>
            <a:ext cx="1266668" cy="25704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200" b="1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</a:t>
            </a:r>
            <a:r>
              <a:rPr lang="ko-KR" altLang="en-US" sz="1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en-US" altLang="ko-KR" sz="1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 성공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03F2D8D-19C6-4F26-B91B-2DB817AA367A}"/>
              </a:ext>
            </a:extLst>
          </p:cNvPr>
          <p:cNvSpPr/>
          <p:nvPr/>
        </p:nvSpPr>
        <p:spPr>
          <a:xfrm>
            <a:off x="4206639" y="2694125"/>
            <a:ext cx="2028825" cy="21717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4F40B74-9FAC-4754-BD98-6F9DF869BA47}"/>
              </a:ext>
            </a:extLst>
          </p:cNvPr>
          <p:cNvGrpSpPr/>
          <p:nvPr/>
        </p:nvGrpSpPr>
        <p:grpSpPr>
          <a:xfrm>
            <a:off x="3448050" y="3549959"/>
            <a:ext cx="533183" cy="307777"/>
            <a:chOff x="3448050" y="4295775"/>
            <a:chExt cx="533183" cy="307777"/>
          </a:xfrm>
        </p:grpSpPr>
        <p:sp>
          <p:nvSpPr>
            <p:cNvPr id="15" name="화살표: 갈매기형 수장 14">
              <a:extLst>
                <a:ext uri="{FF2B5EF4-FFF2-40B4-BE49-F238E27FC236}">
                  <a16:creationId xmlns:a16="http://schemas.microsoft.com/office/drawing/2014/main" id="{79E0611E-1703-45B5-B3EE-8EFFFADBB9E0}"/>
                </a:ext>
              </a:extLst>
            </p:cNvPr>
            <p:cNvSpPr/>
            <p:nvPr/>
          </p:nvSpPr>
          <p:spPr>
            <a:xfrm>
              <a:off x="3448050" y="4295775"/>
              <a:ext cx="307777" cy="307777"/>
            </a:xfrm>
            <a:prstGeom prst="chevron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화살표: 갈매기형 수장 24">
              <a:extLst>
                <a:ext uri="{FF2B5EF4-FFF2-40B4-BE49-F238E27FC236}">
                  <a16:creationId xmlns:a16="http://schemas.microsoft.com/office/drawing/2014/main" id="{860DA409-F637-4145-86E8-1B6141D2F3F7}"/>
                </a:ext>
              </a:extLst>
            </p:cNvPr>
            <p:cNvSpPr/>
            <p:nvPr/>
          </p:nvSpPr>
          <p:spPr>
            <a:xfrm>
              <a:off x="3673456" y="4295775"/>
              <a:ext cx="307777" cy="307777"/>
            </a:xfrm>
            <a:prstGeom prst="chevron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3" name="표 23">
            <a:extLst>
              <a:ext uri="{FF2B5EF4-FFF2-40B4-BE49-F238E27FC236}">
                <a16:creationId xmlns:a16="http://schemas.microsoft.com/office/drawing/2014/main" id="{21011115-A0AB-4576-9AC4-EB7475F29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723821"/>
              </p:ext>
            </p:extLst>
          </p:nvPr>
        </p:nvGraphicFramePr>
        <p:xfrm>
          <a:off x="6553200" y="1769328"/>
          <a:ext cx="5349583" cy="4343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993">
                  <a:extLst>
                    <a:ext uri="{9D8B030D-6E8A-4147-A177-3AD203B41FA5}">
                      <a16:colId xmlns:a16="http://schemas.microsoft.com/office/drawing/2014/main" val="506522482"/>
                    </a:ext>
                  </a:extLst>
                </a:gridCol>
                <a:gridCol w="1274703">
                  <a:extLst>
                    <a:ext uri="{9D8B030D-6E8A-4147-A177-3AD203B41FA5}">
                      <a16:colId xmlns:a16="http://schemas.microsoft.com/office/drawing/2014/main" val="1220082183"/>
                    </a:ext>
                  </a:extLst>
                </a:gridCol>
                <a:gridCol w="2877129">
                  <a:extLst>
                    <a:ext uri="{9D8B030D-6E8A-4147-A177-3AD203B41FA5}">
                      <a16:colId xmlns:a16="http://schemas.microsoft.com/office/drawing/2014/main" val="3943658821"/>
                    </a:ext>
                  </a:extLst>
                </a:gridCol>
                <a:gridCol w="653758">
                  <a:extLst>
                    <a:ext uri="{9D8B030D-6E8A-4147-A177-3AD203B41FA5}">
                      <a16:colId xmlns:a16="http://schemas.microsoft.com/office/drawing/2014/main" val="3495901337"/>
                    </a:ext>
                  </a:extLst>
                </a:gridCol>
              </a:tblGrid>
              <a:tr h="20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구분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이름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내용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비고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809428"/>
                  </a:ext>
                </a:extLst>
              </a:tr>
              <a:tr h="2090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A</a:t>
                      </a:r>
                      <a:endParaRPr lang="ko-KR" altLang="en-US" sz="900" b="1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빙고 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초 간격으로 숫자가 기재된 빙고 볼 등장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225615"/>
                  </a:ext>
                </a:extLst>
              </a:tr>
              <a:tr h="2090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B</a:t>
                      </a:r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도브</a:t>
                      </a:r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빙고 칸을 클릭해서 표식을 남기는 행위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도브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성공 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 </a:t>
                      </a:r>
                    </a:p>
                    <a:p>
                      <a:pPr marL="565200" lvl="1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빙고 볼에 기재된 숫자를 찾아 해당 빙고 칸을 클릭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565200" lvl="1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편의상 </a:t>
                      </a:r>
                      <a:r>
                        <a:rPr lang="ko-KR" altLang="en-US" sz="9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도브로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불림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493200" lvl="1" indent="0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lvl="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도브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실패 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:</a:t>
                      </a:r>
                    </a:p>
                    <a:p>
                      <a:pPr marL="565200" lvl="2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빙고 볼에 기재되지 않은 번호의 빙고 칸을 클릭했을 경우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565200" lvl="2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표식이 남지 않지 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초간 해당 빙고 칸을 누를 수 없도록 </a:t>
                      </a:r>
                      <a:r>
                        <a:rPr lang="ko-KR" altLang="en-US" sz="9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패널티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부여 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091003"/>
                  </a:ext>
                </a:extLst>
              </a:tr>
              <a:tr h="2090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C</a:t>
                      </a:r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스킬 게이지</a:t>
                      </a:r>
                      <a:endParaRPr lang="en-US" altLang="ko-KR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(</a:t>
                      </a:r>
                      <a:r>
                        <a:rPr lang="ko-KR" altLang="en-US" sz="900" dirty="0" err="1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차징</a:t>
                      </a:r>
                      <a:r>
                        <a:rPr lang="ko-KR" altLang="en-US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상태</a:t>
                      </a:r>
                      <a:r>
                        <a:rPr lang="en-US" altLang="ko-KR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)</a:t>
                      </a:r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도브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성공 시 시계 방향으로 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r>
                        <a:rPr lang="ko-KR" altLang="en-US" sz="9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칸씩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증가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0" lv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 게이지 풀 충전되기 전까지는 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“Charging” 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텍스트 문구 노출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회 성공 시 중앙에 스킬 아이콘 등장 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준비 상태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)</a:t>
                      </a: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71450" lvl="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 아이콘을 누르면 해당 스킬이 발동 됨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877518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211AD39C-E10C-4A3F-AD5D-998E63464CE0}"/>
              </a:ext>
            </a:extLst>
          </p:cNvPr>
          <p:cNvSpPr txBox="1"/>
          <p:nvPr/>
        </p:nvSpPr>
        <p:spPr>
          <a:xfrm>
            <a:off x="3307778" y="5357732"/>
            <a:ext cx="3799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도브를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 성공할 때마다 </a:t>
            </a:r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1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칸씩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증가</a:t>
            </a:r>
            <a:endParaRPr lang="en-US" altLang="ko-KR" sz="11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총 </a:t>
            </a:r>
            <a:r>
              <a:rPr lang="ko-KR" altLang="en-US" sz="11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 성공 시 스킬 게이지 풀 충전</a:t>
            </a:r>
            <a:endParaRPr lang="en-US" altLang="ko-KR" sz="11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99A08F6-866C-4016-B339-C599904BD024}"/>
              </a:ext>
            </a:extLst>
          </p:cNvPr>
          <p:cNvSpPr/>
          <p:nvPr/>
        </p:nvSpPr>
        <p:spPr>
          <a:xfrm>
            <a:off x="4524928" y="2394840"/>
            <a:ext cx="342899" cy="308016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</a:t>
            </a:r>
            <a:endParaRPr lang="ko-KR" altLang="en-US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3EA9BE5-2C99-471F-83BD-17B1ECC4B393}"/>
              </a:ext>
            </a:extLst>
          </p:cNvPr>
          <p:cNvGrpSpPr/>
          <p:nvPr/>
        </p:nvGrpSpPr>
        <p:grpSpPr>
          <a:xfrm>
            <a:off x="8467204" y="4456073"/>
            <a:ext cx="2716498" cy="634019"/>
            <a:chOff x="8381479" y="5132561"/>
            <a:chExt cx="2716498" cy="634019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C00F68B0-7B69-40AE-BFEA-4AF8829C3CCE}"/>
                </a:ext>
              </a:extLst>
            </p:cNvPr>
            <p:cNvGrpSpPr/>
            <p:nvPr/>
          </p:nvGrpSpPr>
          <p:grpSpPr>
            <a:xfrm>
              <a:off x="8381479" y="5132561"/>
              <a:ext cx="2716498" cy="634019"/>
              <a:chOff x="1864528" y="992587"/>
              <a:chExt cx="7305096" cy="1704977"/>
            </a:xfrm>
          </p:grpSpPr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E0D823E1-F586-4D35-9F60-C9EB8997F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1700" y="992589"/>
                <a:ext cx="1704975" cy="1704975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93AC270F-AB43-4FA0-93E8-BD7700A2B8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46471" y="992587"/>
                <a:ext cx="1704975" cy="1704974"/>
              </a:xfrm>
              <a:prstGeom prst="rect">
                <a:avLst/>
              </a:prstGeom>
            </p:spPr>
          </p:pic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5BC02C07-D8A7-4359-A38F-CC95EE1DFD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64649" y="992587"/>
                <a:ext cx="1704975" cy="1704975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84A3E80-0126-4D21-9B19-869D2FFEDCB2}"/>
                  </a:ext>
                </a:extLst>
              </p:cNvPr>
              <p:cNvSpPr txBox="1"/>
              <p:nvPr/>
            </p:nvSpPr>
            <p:spPr>
              <a:xfrm>
                <a:off x="1864528" y="1626833"/>
                <a:ext cx="1690919" cy="455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500" b="1" dirty="0"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CHARGING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94E5106-1CE2-4601-8192-3002F2938597}"/>
                  </a:ext>
                </a:extLst>
              </p:cNvPr>
              <p:cNvSpPr txBox="1"/>
              <p:nvPr/>
            </p:nvSpPr>
            <p:spPr>
              <a:xfrm>
                <a:off x="7674091" y="1549990"/>
                <a:ext cx="1206499" cy="662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500" b="1" dirty="0"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SKILL</a:t>
                </a:r>
              </a:p>
              <a:p>
                <a:pPr algn="ctr"/>
                <a:r>
                  <a:rPr lang="en-US" altLang="ko-KR" sz="500" b="1" dirty="0">
                    <a:latin typeface="G마켓 산스 TTF Bold" panose="02000000000000000000" pitchFamily="2" charset="-127"/>
                    <a:ea typeface="G마켓 산스 TTF Bold" panose="02000000000000000000" pitchFamily="2" charset="-127"/>
                  </a:rPr>
                  <a:t>ICON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9DA9455-4925-4DA0-8AC8-2A26154F1F8A}"/>
                </a:ext>
              </a:extLst>
            </p:cNvPr>
            <p:cNvSpPr txBox="1"/>
            <p:nvPr/>
          </p:nvSpPr>
          <p:spPr>
            <a:xfrm>
              <a:off x="9412814" y="5368414"/>
              <a:ext cx="628791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b="1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CHARGING</a:t>
              </a:r>
            </a:p>
          </p:txBody>
        </p:sp>
      </p:grp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114EC17-E760-497C-B944-B8FA12EDC566}"/>
              </a:ext>
            </a:extLst>
          </p:cNvPr>
          <p:cNvSpPr/>
          <p:nvPr/>
        </p:nvSpPr>
        <p:spPr>
          <a:xfrm>
            <a:off x="10477802" y="4225976"/>
            <a:ext cx="687133" cy="15925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</a:t>
            </a:r>
            <a:r>
              <a:rPr lang="ko-KR" altLang="en-US" sz="10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 성공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F75ED05-C902-4207-A456-163D61E91ECE}"/>
              </a:ext>
            </a:extLst>
          </p:cNvPr>
          <p:cNvSpPr/>
          <p:nvPr/>
        </p:nvSpPr>
        <p:spPr>
          <a:xfrm>
            <a:off x="8436679" y="4225976"/>
            <a:ext cx="687133" cy="15925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0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 성공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D06211F-584E-4885-848C-B92F6F80D2DF}"/>
              </a:ext>
            </a:extLst>
          </p:cNvPr>
          <p:cNvSpPr/>
          <p:nvPr/>
        </p:nvSpPr>
        <p:spPr>
          <a:xfrm>
            <a:off x="9469367" y="4225976"/>
            <a:ext cx="687133" cy="159253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</a:t>
            </a:r>
            <a:r>
              <a:rPr lang="ko-KR" altLang="en-US" sz="10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 성공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A90A4C-98D3-45FE-A6C4-EC38167B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552DC8C-9DA8-45BF-A30A-835EBB7AE451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44" name="Object 52">
              <a:extLst>
                <a:ext uri="{FF2B5EF4-FFF2-40B4-BE49-F238E27FC236}">
                  <a16:creationId xmlns:a16="http://schemas.microsoft.com/office/drawing/2014/main" id="{AB55BF8B-07E1-489A-971B-0822F202449D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3.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작동 방식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45" name="Object 52">
              <a:extLst>
                <a:ext uri="{FF2B5EF4-FFF2-40B4-BE49-F238E27FC236}">
                  <a16:creationId xmlns:a16="http://schemas.microsoft.com/office/drawing/2014/main" id="{89D75824-C966-447C-9855-C95E65F958DA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30DE6FE-E668-4205-B297-961DFA656088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2951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8800EA-BA49-4309-91AB-9AE95954FA46}"/>
              </a:ext>
            </a:extLst>
          </p:cNvPr>
          <p:cNvSpPr txBox="1"/>
          <p:nvPr/>
        </p:nvSpPr>
        <p:spPr>
          <a:xfrm>
            <a:off x="2175069" y="932676"/>
            <a:ext cx="784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빙고 스킬 게이지가 가득 채워지면 확률에 따라 가디언이 지닌 스킬 중 </a:t>
            </a:r>
            <a:r>
              <a:rPr lang="en-US" altLang="ko-KR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 사용 가능 상태가 됨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4A1F2964-34A6-4752-9B67-072CE8FF2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040177"/>
              </p:ext>
            </p:extLst>
          </p:nvPr>
        </p:nvGraphicFramePr>
        <p:xfrm>
          <a:off x="289216" y="2540175"/>
          <a:ext cx="2893240" cy="2893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8648">
                  <a:extLst>
                    <a:ext uri="{9D8B030D-6E8A-4147-A177-3AD203B41FA5}">
                      <a16:colId xmlns:a16="http://schemas.microsoft.com/office/drawing/2014/main" val="668990564"/>
                    </a:ext>
                  </a:extLst>
                </a:gridCol>
                <a:gridCol w="578648">
                  <a:extLst>
                    <a:ext uri="{9D8B030D-6E8A-4147-A177-3AD203B41FA5}">
                      <a16:colId xmlns:a16="http://schemas.microsoft.com/office/drawing/2014/main" val="3299705747"/>
                    </a:ext>
                  </a:extLst>
                </a:gridCol>
                <a:gridCol w="578648">
                  <a:extLst>
                    <a:ext uri="{9D8B030D-6E8A-4147-A177-3AD203B41FA5}">
                      <a16:colId xmlns:a16="http://schemas.microsoft.com/office/drawing/2014/main" val="1476304806"/>
                    </a:ext>
                  </a:extLst>
                </a:gridCol>
                <a:gridCol w="578648">
                  <a:extLst>
                    <a:ext uri="{9D8B030D-6E8A-4147-A177-3AD203B41FA5}">
                      <a16:colId xmlns:a16="http://schemas.microsoft.com/office/drawing/2014/main" val="1938919709"/>
                    </a:ext>
                  </a:extLst>
                </a:gridCol>
                <a:gridCol w="578648">
                  <a:extLst>
                    <a:ext uri="{9D8B030D-6E8A-4147-A177-3AD203B41FA5}">
                      <a16:colId xmlns:a16="http://schemas.microsoft.com/office/drawing/2014/main" val="630486322"/>
                    </a:ext>
                  </a:extLst>
                </a:gridCol>
              </a:tblGrid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FB7F7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I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FF973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N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A2EB7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G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83DCF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O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C67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143509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20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41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55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73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587932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14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24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38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46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71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915352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25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37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53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70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012638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13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16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43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47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74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701462"/>
                  </a:ext>
                </a:extLst>
              </a:tr>
              <a:tr h="4822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29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32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52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62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397037"/>
                  </a:ext>
                </a:extLst>
              </a:tr>
            </a:tbl>
          </a:graphicData>
        </a:graphic>
      </p:graphicFrame>
      <p:sp>
        <p:nvSpPr>
          <p:cNvPr id="11" name="타원 10">
            <a:extLst>
              <a:ext uri="{FF2B5EF4-FFF2-40B4-BE49-F238E27FC236}">
                <a16:creationId xmlns:a16="http://schemas.microsoft.com/office/drawing/2014/main" id="{F50B56F1-2FAF-423F-9E55-1942FF4A2FD7}"/>
              </a:ext>
            </a:extLst>
          </p:cNvPr>
          <p:cNvSpPr/>
          <p:nvPr/>
        </p:nvSpPr>
        <p:spPr>
          <a:xfrm>
            <a:off x="1429403" y="1827967"/>
            <a:ext cx="571500" cy="571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73</a:t>
            </a:r>
            <a:endParaRPr lang="ko-KR" altLang="en-US" sz="1400" b="1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ECBADA1-0B9E-41FC-A370-27A691C62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852" y="2947617"/>
            <a:ext cx="1704975" cy="17049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CB5736-05BD-42F4-A593-FC33F9B093ED}"/>
              </a:ext>
            </a:extLst>
          </p:cNvPr>
          <p:cNvSpPr txBox="1"/>
          <p:nvPr/>
        </p:nvSpPr>
        <p:spPr>
          <a:xfrm>
            <a:off x="4657578" y="3620220"/>
            <a:ext cx="1206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CHARGING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8FA9D3C-8840-4459-8D59-248FFD225952}"/>
              </a:ext>
            </a:extLst>
          </p:cNvPr>
          <p:cNvSpPr/>
          <p:nvPr/>
        </p:nvSpPr>
        <p:spPr>
          <a:xfrm>
            <a:off x="4597410" y="4961146"/>
            <a:ext cx="1266668" cy="25704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1200" b="1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</a:t>
            </a:r>
            <a:r>
              <a:rPr lang="ko-KR" altLang="en-US" sz="1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en-US" altLang="ko-KR" sz="1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 성공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03F2D8D-19C6-4F26-B91B-2DB817AA367A}"/>
              </a:ext>
            </a:extLst>
          </p:cNvPr>
          <p:cNvSpPr/>
          <p:nvPr/>
        </p:nvSpPr>
        <p:spPr>
          <a:xfrm>
            <a:off x="4206639" y="2661588"/>
            <a:ext cx="2028825" cy="217170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4F40B74-9FAC-4754-BD98-6F9DF869BA47}"/>
              </a:ext>
            </a:extLst>
          </p:cNvPr>
          <p:cNvGrpSpPr/>
          <p:nvPr/>
        </p:nvGrpSpPr>
        <p:grpSpPr>
          <a:xfrm>
            <a:off x="3448050" y="3517422"/>
            <a:ext cx="533183" cy="307777"/>
            <a:chOff x="3448050" y="4295775"/>
            <a:chExt cx="533183" cy="307777"/>
          </a:xfrm>
        </p:grpSpPr>
        <p:sp>
          <p:nvSpPr>
            <p:cNvPr id="15" name="화살표: 갈매기형 수장 14">
              <a:extLst>
                <a:ext uri="{FF2B5EF4-FFF2-40B4-BE49-F238E27FC236}">
                  <a16:creationId xmlns:a16="http://schemas.microsoft.com/office/drawing/2014/main" id="{79E0611E-1703-45B5-B3EE-8EFFFADBB9E0}"/>
                </a:ext>
              </a:extLst>
            </p:cNvPr>
            <p:cNvSpPr/>
            <p:nvPr/>
          </p:nvSpPr>
          <p:spPr>
            <a:xfrm>
              <a:off x="3448050" y="4295775"/>
              <a:ext cx="307777" cy="307777"/>
            </a:xfrm>
            <a:prstGeom prst="chevron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화살표: 갈매기형 수장 24">
              <a:extLst>
                <a:ext uri="{FF2B5EF4-FFF2-40B4-BE49-F238E27FC236}">
                  <a16:creationId xmlns:a16="http://schemas.microsoft.com/office/drawing/2014/main" id="{860DA409-F637-4145-86E8-1B6141D2F3F7}"/>
                </a:ext>
              </a:extLst>
            </p:cNvPr>
            <p:cNvSpPr/>
            <p:nvPr/>
          </p:nvSpPr>
          <p:spPr>
            <a:xfrm>
              <a:off x="3673456" y="4295775"/>
              <a:ext cx="307777" cy="307777"/>
            </a:xfrm>
            <a:prstGeom prst="chevron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3" name="표 23">
            <a:extLst>
              <a:ext uri="{FF2B5EF4-FFF2-40B4-BE49-F238E27FC236}">
                <a16:creationId xmlns:a16="http://schemas.microsoft.com/office/drawing/2014/main" id="{21011115-A0AB-4576-9AC4-EB7475F29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487633"/>
              </p:ext>
            </p:extLst>
          </p:nvPr>
        </p:nvGraphicFramePr>
        <p:xfrm>
          <a:off x="6553200" y="1736791"/>
          <a:ext cx="5349583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993">
                  <a:extLst>
                    <a:ext uri="{9D8B030D-6E8A-4147-A177-3AD203B41FA5}">
                      <a16:colId xmlns:a16="http://schemas.microsoft.com/office/drawing/2014/main" val="506522482"/>
                    </a:ext>
                  </a:extLst>
                </a:gridCol>
                <a:gridCol w="1274703">
                  <a:extLst>
                    <a:ext uri="{9D8B030D-6E8A-4147-A177-3AD203B41FA5}">
                      <a16:colId xmlns:a16="http://schemas.microsoft.com/office/drawing/2014/main" val="1220082183"/>
                    </a:ext>
                  </a:extLst>
                </a:gridCol>
                <a:gridCol w="2877129">
                  <a:extLst>
                    <a:ext uri="{9D8B030D-6E8A-4147-A177-3AD203B41FA5}">
                      <a16:colId xmlns:a16="http://schemas.microsoft.com/office/drawing/2014/main" val="3943658821"/>
                    </a:ext>
                  </a:extLst>
                </a:gridCol>
                <a:gridCol w="653758">
                  <a:extLst>
                    <a:ext uri="{9D8B030D-6E8A-4147-A177-3AD203B41FA5}">
                      <a16:colId xmlns:a16="http://schemas.microsoft.com/office/drawing/2014/main" val="3495901337"/>
                    </a:ext>
                  </a:extLst>
                </a:gridCol>
              </a:tblGrid>
              <a:tr h="2090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구분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이름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내용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비고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809428"/>
                  </a:ext>
                </a:extLst>
              </a:tr>
              <a:tr h="2090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D</a:t>
                      </a:r>
                      <a:endParaRPr lang="ko-KR" altLang="en-US" sz="900" b="1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스킬 사용 연출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 게이지에 노출된 스킬 아이콘을 눌러 스킬을 발동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각 스킬의 발동 메커니즘은 </a:t>
                      </a:r>
                      <a:r>
                        <a:rPr lang="ko-KR" altLang="en-US" sz="9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 작동 방식 문서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에서 설명 예정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스킬에 맞는 스킬 연출이 빙고 카드에 발생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225615"/>
                  </a:ext>
                </a:extLst>
              </a:tr>
              <a:tr h="2090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E</a:t>
                      </a:r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스킬 게이지</a:t>
                      </a:r>
                      <a:endParaRPr lang="en-US" altLang="ko-KR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(</a:t>
                      </a:r>
                      <a:r>
                        <a:rPr lang="ko-KR" altLang="en-US" sz="900" dirty="0" err="1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쿨타임</a:t>
                      </a:r>
                      <a:r>
                        <a:rPr lang="ko-KR" altLang="en-US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상태</a:t>
                      </a:r>
                      <a:r>
                        <a:rPr lang="en-US" altLang="ko-KR" sz="90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)</a:t>
                      </a:r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 사용 후 스킬 아이콘 사라짐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 사용 후 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“COOLTIME” 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텍스트 노출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565200" lvl="1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게이지 상태가 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0% </a:t>
                      </a:r>
                      <a:r>
                        <a:rPr lang="ko-KR" altLang="en-US" sz="9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될때까지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노출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565200" lvl="1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lvl="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 게이지는 시계 반대 방향으로 스킬 </a:t>
                      </a:r>
                      <a:r>
                        <a:rPr lang="ko-KR" altLang="en-US" sz="9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쿨타임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시간에 맞춰 줄어듦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565200" lvl="1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 별 </a:t>
                      </a:r>
                      <a:r>
                        <a:rPr lang="ko-KR" altLang="en-US" sz="9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쿨타임은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 정보 테이블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에서 확인 가능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565200" lvl="1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lvl="0" indent="-720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스킬 게이지가 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0% 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도달할 경우</a:t>
                      </a:r>
                      <a:r>
                        <a:rPr lang="en-US" altLang="ko-KR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, 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다음과 같이 </a:t>
                      </a:r>
                      <a:r>
                        <a:rPr lang="ko-KR" altLang="en-US" sz="90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인게임</a:t>
                      </a:r>
                      <a:r>
                        <a:rPr lang="ko-KR" altLang="en-US" sz="90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첫 진입할 때 상태로 변경 됨</a:t>
                      </a: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lvl="0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lvl="0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lvl="0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lvl="0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lvl="0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  <a:p>
                      <a:pPr marL="108000" lvl="0" indent="-72000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091003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211AD39C-E10C-4A3F-AD5D-998E63464CE0}"/>
              </a:ext>
            </a:extLst>
          </p:cNvPr>
          <p:cNvSpPr txBox="1"/>
          <p:nvPr/>
        </p:nvSpPr>
        <p:spPr>
          <a:xfrm>
            <a:off x="3307778" y="5325195"/>
            <a:ext cx="3799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도브를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 성공할 때마다 </a:t>
            </a:r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lang="ko-KR" altLang="en-US" sz="11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칸씩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증가</a:t>
            </a:r>
            <a:endParaRPr lang="en-US" altLang="ko-KR" sz="11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총 </a:t>
            </a:r>
            <a:r>
              <a:rPr lang="ko-KR" altLang="en-US" sz="1100" dirty="0" err="1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도브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회 성공 시 스킬 게이지 풀 충전</a:t>
            </a:r>
            <a:endParaRPr lang="en-US" altLang="ko-KR" sz="11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99A08F6-866C-4016-B339-C599904BD024}"/>
              </a:ext>
            </a:extLst>
          </p:cNvPr>
          <p:cNvSpPr/>
          <p:nvPr/>
        </p:nvSpPr>
        <p:spPr>
          <a:xfrm>
            <a:off x="4524928" y="2362303"/>
            <a:ext cx="342899" cy="308016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</a:t>
            </a:r>
            <a:endParaRPr lang="ko-KR" altLang="en-US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80C8191-C61D-4C96-A599-F6727CC765DE}"/>
              </a:ext>
            </a:extLst>
          </p:cNvPr>
          <p:cNvSpPr/>
          <p:nvPr/>
        </p:nvSpPr>
        <p:spPr>
          <a:xfrm>
            <a:off x="1266698" y="4736030"/>
            <a:ext cx="859605" cy="878091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525E1C16-5FE5-48FC-A4E9-DAAD0157AD7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4074" b="70000" l="72839" r="74375">
                        <a14:foregroundMark x1="73203" y1="65000" x2="72943" y2="67593"/>
                        <a14:foregroundMark x1="72943" y1="67593" x2="73490" y2="69722"/>
                        <a14:foregroundMark x1="73490" y1="69722" x2="74219" y2="68796"/>
                        <a14:foregroundMark x1="74219" y1="68796" x2="74375" y2="65741"/>
                        <a14:foregroundMark x1="74375" y1="65741" x2="73698" y2="64167"/>
                        <a14:foregroundMark x1="73698" y1="64167" x2="73177" y2="65000"/>
                        <a14:foregroundMark x1="72839" y1="66481" x2="72865" y2="67685"/>
                        <a14:foregroundMark x1="73568" y1="69722" x2="73932" y2="69444"/>
                        <a14:foregroundMark x1="73906" y1="69352" x2="74036" y2="68981"/>
                        <a14:foregroundMark x1="74010" y1="69815" x2="73854" y2="70000"/>
                        <a14:foregroundMark x1="73594" y1="64259" x2="73542" y2="64259"/>
                        <a14:foregroundMark x1="73776" y1="64074" x2="73698" y2="64167"/>
                        <a14:foregroundMark x1="73229" y1="64630" x2="73229" y2="64630"/>
                        <a14:foregroundMark x1="73620" y1="69722" x2="73828" y2="70000"/>
                      </a14:backgroundRemoval>
                    </a14:imgEffect>
                  </a14:imgLayer>
                </a14:imgProps>
              </a:ext>
            </a:extLst>
          </a:blip>
          <a:srcRect l="72790" t="63549" r="25454" b="29500"/>
          <a:stretch/>
        </p:blipFill>
        <p:spPr>
          <a:xfrm>
            <a:off x="1429785" y="4836329"/>
            <a:ext cx="584681" cy="651123"/>
          </a:xfrm>
          <a:prstGeom prst="rect">
            <a:avLst/>
          </a:prstGeom>
        </p:spPr>
      </p:pic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3FC7B95-84B9-4CF1-AD9A-43596A94492D}"/>
              </a:ext>
            </a:extLst>
          </p:cNvPr>
          <p:cNvSpPr/>
          <p:nvPr/>
        </p:nvSpPr>
        <p:spPr>
          <a:xfrm>
            <a:off x="1091027" y="5710637"/>
            <a:ext cx="1257300" cy="232394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스킬 연출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B3CEE60-4DBD-4C60-85B4-FD1C2E052783}"/>
              </a:ext>
            </a:extLst>
          </p:cNvPr>
          <p:cNvSpPr/>
          <p:nvPr/>
        </p:nvSpPr>
        <p:spPr>
          <a:xfrm>
            <a:off x="2070706" y="4476913"/>
            <a:ext cx="473292" cy="473292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7339F4D4-0B07-41D7-A89A-14E472FDF600}"/>
              </a:ext>
            </a:extLst>
          </p:cNvPr>
          <p:cNvSpPr/>
          <p:nvPr/>
        </p:nvSpPr>
        <p:spPr>
          <a:xfrm>
            <a:off x="920778" y="3511713"/>
            <a:ext cx="473292" cy="473292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E7C6A50-8C88-4558-9E6A-607C2ADB576E}"/>
              </a:ext>
            </a:extLst>
          </p:cNvPr>
          <p:cNvSpPr/>
          <p:nvPr/>
        </p:nvSpPr>
        <p:spPr>
          <a:xfrm>
            <a:off x="2671069" y="3036041"/>
            <a:ext cx="473292" cy="473292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dirty="0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0A4D84D-B388-4E72-811C-94234DF057BB}"/>
              </a:ext>
            </a:extLst>
          </p:cNvPr>
          <p:cNvSpPr/>
          <p:nvPr/>
        </p:nvSpPr>
        <p:spPr>
          <a:xfrm>
            <a:off x="698759" y="1827967"/>
            <a:ext cx="571500" cy="571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24</a:t>
            </a:r>
            <a:endParaRPr lang="ko-KR" altLang="en-US" sz="1400" b="1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31A383E2-57C6-4929-B0DF-7123070FC7B4}"/>
              </a:ext>
            </a:extLst>
          </p:cNvPr>
          <p:cNvSpPr/>
          <p:nvPr/>
        </p:nvSpPr>
        <p:spPr>
          <a:xfrm>
            <a:off x="2175069" y="1828478"/>
            <a:ext cx="571500" cy="5715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47</a:t>
            </a:r>
            <a:endParaRPr lang="ko-KR" altLang="en-US" sz="1400" b="1" dirty="0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803E43A6-9454-49B5-9290-63A0FEDFA5A2}"/>
              </a:ext>
            </a:extLst>
          </p:cNvPr>
          <p:cNvSpPr/>
          <p:nvPr/>
        </p:nvSpPr>
        <p:spPr>
          <a:xfrm>
            <a:off x="108149" y="1736791"/>
            <a:ext cx="3232420" cy="4310529"/>
          </a:xfrm>
          <a:prstGeom prst="roundRect">
            <a:avLst>
              <a:gd name="adj" fmla="val 12667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C8214EBB-1A2A-462C-BEC5-D3D01AEE838F}"/>
              </a:ext>
            </a:extLst>
          </p:cNvPr>
          <p:cNvSpPr/>
          <p:nvPr/>
        </p:nvSpPr>
        <p:spPr>
          <a:xfrm>
            <a:off x="527309" y="1421953"/>
            <a:ext cx="342899" cy="308016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</a:t>
            </a:r>
            <a:endParaRPr lang="ko-KR" altLang="en-US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572731C-E713-4505-93D6-472EB7959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8563" y="2951631"/>
            <a:ext cx="1704975" cy="1704975"/>
          </a:xfrm>
          <a:prstGeom prst="rect">
            <a:avLst/>
          </a:prstGeom>
        </p:spPr>
      </p:pic>
      <p:sp>
        <p:nvSpPr>
          <p:cNvPr id="58" name="화살표: 굽음 57">
            <a:extLst>
              <a:ext uri="{FF2B5EF4-FFF2-40B4-BE49-F238E27FC236}">
                <a16:creationId xmlns:a16="http://schemas.microsoft.com/office/drawing/2014/main" id="{6087FAC8-DA90-4181-82CD-5F3558F34439}"/>
              </a:ext>
            </a:extLst>
          </p:cNvPr>
          <p:cNvSpPr/>
          <p:nvPr/>
        </p:nvSpPr>
        <p:spPr>
          <a:xfrm rot="5400000" flipV="1">
            <a:off x="4210697" y="2824244"/>
            <a:ext cx="594730" cy="587794"/>
          </a:xfrm>
          <a:prstGeom prst="bentArrow">
            <a:avLst>
              <a:gd name="adj1" fmla="val 19211"/>
              <a:gd name="adj2" fmla="val 28817"/>
              <a:gd name="adj3" fmla="val 25000"/>
              <a:gd name="adj4" fmla="val 75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83CA728-8A18-4386-8286-09C007DF3F90}"/>
              </a:ext>
            </a:extLst>
          </p:cNvPr>
          <p:cNvGrpSpPr/>
          <p:nvPr/>
        </p:nvGrpSpPr>
        <p:grpSpPr>
          <a:xfrm>
            <a:off x="9376722" y="4736030"/>
            <a:ext cx="824125" cy="824125"/>
            <a:chOff x="2896627" y="4813771"/>
            <a:chExt cx="1674687" cy="1674687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2E15FE9E-7CDB-4FCB-BCB2-A0DFCF423E89}"/>
                </a:ext>
              </a:extLst>
            </p:cNvPr>
            <p:cNvSpPr/>
            <p:nvPr/>
          </p:nvSpPr>
          <p:spPr>
            <a:xfrm>
              <a:off x="2896627" y="4813771"/>
              <a:ext cx="1674687" cy="167468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A9E0891A-EA35-43CC-B42A-F8484F4BA3BC}"/>
                </a:ext>
              </a:extLst>
            </p:cNvPr>
            <p:cNvSpPr/>
            <p:nvPr/>
          </p:nvSpPr>
          <p:spPr>
            <a:xfrm>
              <a:off x="3125138" y="5054982"/>
              <a:ext cx="1206500" cy="12065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3C4A8878-58E2-4D92-A268-710D34A99B17}"/>
                </a:ext>
              </a:extLst>
            </p:cNvPr>
            <p:cNvCxnSpPr>
              <a:stCxn id="60" idx="0"/>
              <a:endCxn id="61" idx="0"/>
            </p:cNvCxnSpPr>
            <p:nvPr/>
          </p:nvCxnSpPr>
          <p:spPr>
            <a:xfrm flipH="1">
              <a:off x="3728388" y="4813771"/>
              <a:ext cx="5583" cy="24121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F25E584-1E26-48F6-BA03-55009CDA492C}"/>
                </a:ext>
              </a:extLst>
            </p:cNvPr>
            <p:cNvCxnSpPr>
              <a:stCxn id="61" idx="5"/>
              <a:endCxn id="60" idx="5"/>
            </p:cNvCxnSpPr>
            <p:nvPr/>
          </p:nvCxnSpPr>
          <p:spPr>
            <a:xfrm>
              <a:off x="4154950" y="6084794"/>
              <a:ext cx="171112" cy="1584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358D8444-3DF3-463F-B62E-FCFB33A3F46B}"/>
                </a:ext>
              </a:extLst>
            </p:cNvPr>
            <p:cNvCxnSpPr>
              <a:stCxn id="61" idx="3"/>
              <a:endCxn id="60" idx="3"/>
            </p:cNvCxnSpPr>
            <p:nvPr/>
          </p:nvCxnSpPr>
          <p:spPr>
            <a:xfrm flipH="1">
              <a:off x="3141879" y="6084794"/>
              <a:ext cx="159947" cy="15841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CAE789C-ACF3-4978-8663-DDC983594210}"/>
                </a:ext>
              </a:extLst>
            </p:cNvPr>
            <p:cNvSpPr txBox="1"/>
            <p:nvPr/>
          </p:nvSpPr>
          <p:spPr>
            <a:xfrm>
              <a:off x="3108778" y="5487627"/>
              <a:ext cx="1206500" cy="406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MAGIC</a:t>
              </a:r>
              <a:endParaRPr lang="ko-KR" altLang="en-US" sz="5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D760AE9-0DA1-4350-89A1-6119E7D2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CF8ACBE-0D89-4E3F-BDDB-B07F7C376836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51" name="Object 52">
              <a:extLst>
                <a:ext uri="{FF2B5EF4-FFF2-40B4-BE49-F238E27FC236}">
                  <a16:creationId xmlns:a16="http://schemas.microsoft.com/office/drawing/2014/main" id="{97272347-537E-46FB-9A37-67C473317AB1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3.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작동 방식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54" name="Object 52">
              <a:extLst>
                <a:ext uri="{FF2B5EF4-FFF2-40B4-BE49-F238E27FC236}">
                  <a16:creationId xmlns:a16="http://schemas.microsoft.com/office/drawing/2014/main" id="{2FA8C920-1573-47E8-B18F-84A642C81F30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30AFE44-0D49-43C6-9BD1-8E280B2D7919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7960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8800EA-BA49-4309-91AB-9AE95954FA46}"/>
              </a:ext>
            </a:extLst>
          </p:cNvPr>
          <p:cNvSpPr txBox="1"/>
          <p:nvPr/>
        </p:nvSpPr>
        <p:spPr>
          <a:xfrm>
            <a:off x="2175069" y="898397"/>
            <a:ext cx="784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및 간략한 설명은 다음 테이블에서 확인 가능</a:t>
            </a:r>
            <a:endParaRPr lang="en-US" altLang="ko-KR" sz="1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aphicFrame>
        <p:nvGraphicFramePr>
          <p:cNvPr id="23" name="표 23">
            <a:extLst>
              <a:ext uri="{FF2B5EF4-FFF2-40B4-BE49-F238E27FC236}">
                <a16:creationId xmlns:a16="http://schemas.microsoft.com/office/drawing/2014/main" id="{21011115-A0AB-4576-9AC4-EB7475F29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167838"/>
              </p:ext>
            </p:extLst>
          </p:nvPr>
        </p:nvGraphicFramePr>
        <p:xfrm>
          <a:off x="314732" y="1272214"/>
          <a:ext cx="7390993" cy="45938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703">
                  <a:extLst>
                    <a:ext uri="{9D8B030D-6E8A-4147-A177-3AD203B41FA5}">
                      <a16:colId xmlns:a16="http://schemas.microsoft.com/office/drawing/2014/main" val="506522482"/>
                    </a:ext>
                  </a:extLst>
                </a:gridCol>
                <a:gridCol w="687205">
                  <a:extLst>
                    <a:ext uri="{9D8B030D-6E8A-4147-A177-3AD203B41FA5}">
                      <a16:colId xmlns:a16="http://schemas.microsoft.com/office/drawing/2014/main" val="1220082183"/>
                    </a:ext>
                  </a:extLst>
                </a:gridCol>
                <a:gridCol w="1167510">
                  <a:extLst>
                    <a:ext uri="{9D8B030D-6E8A-4147-A177-3AD203B41FA5}">
                      <a16:colId xmlns:a16="http://schemas.microsoft.com/office/drawing/2014/main" val="394365882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495901337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3078111668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651906521"/>
                    </a:ext>
                  </a:extLst>
                </a:gridCol>
              </a:tblGrid>
              <a:tr h="20907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SKILL_IDX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SKILL_RARITY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SKILL_NAME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SKILL_COOLTIME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SKILL_USE_ROUND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SKILL_DESCRIPTION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809428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Credit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카드당 랜덤 크레딧 스퀘어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개씩 마킹 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67225615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Coin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카드당 랜덤 코인 스퀘어 </a:t>
                      </a:r>
                      <a:r>
                        <a:rPr lang="en-US" altLang="ko-KR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개씩 마킹</a:t>
                      </a:r>
                      <a:endParaRPr lang="ko-KR" altLang="en-US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24091003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Gem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카드당 랜덤 </a:t>
                      </a:r>
                      <a:r>
                        <a:rPr lang="ko-KR" altLang="en-US" sz="900" b="0" i="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젬</a:t>
                      </a:r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스퀘어 </a:t>
                      </a:r>
                      <a:r>
                        <a:rPr lang="en-US" altLang="ko-KR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개씩 마킹</a:t>
                      </a:r>
                      <a:endParaRPr lang="ko-KR" altLang="en-US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653877518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Treasure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카드당 </a:t>
                      </a:r>
                      <a:r>
                        <a:rPr lang="ko-KR" altLang="en-US" sz="900" b="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트레저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스퀘어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개씩 마킹 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33721079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5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Single Daub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카드당 랜덤 </a:t>
                      </a:r>
                      <a:r>
                        <a:rPr lang="ko-KR" altLang="en-US" sz="900" b="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도브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1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회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615396989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6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Double Coin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정산 시 획득 코인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배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910731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7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XP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카드당 랜덤 </a:t>
                      </a:r>
                      <a:r>
                        <a:rPr lang="en-US" altLang="ko-KR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XP </a:t>
                      </a:r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스퀘어 </a:t>
                      </a:r>
                      <a:r>
                        <a:rPr lang="en-US" altLang="ko-KR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개씩 마킹</a:t>
                      </a:r>
                      <a:endParaRPr lang="ko-KR" altLang="en-US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134110324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8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Double Daub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카드당 랜덤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Daub 2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회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31745803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9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Double Credit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정산 시 크레딧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배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94514557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10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Super Charge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사용 이후 라운드 종료시까지 스킬 게이지 </a:t>
                      </a:r>
                      <a:r>
                        <a:rPr lang="ko-KR" altLang="en-US" sz="900" b="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도브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회로 풀 차지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| </a:t>
                      </a:r>
                    </a:p>
                    <a:p>
                      <a:pPr algn="l" rtl="0" fontAlgn="b"/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사용 이후 라운드 종료시까지 아이템 </a:t>
                      </a:r>
                      <a:r>
                        <a:rPr lang="ko-KR" altLang="en-US" sz="900" b="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쿨타임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50% 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감소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81811358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11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Star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카드당 랜덤 별</a:t>
                      </a:r>
                      <a:r>
                        <a:rPr lang="en-US" altLang="ko-KR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(Star) </a:t>
                      </a:r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스퀘어 </a:t>
                      </a:r>
                      <a:r>
                        <a:rPr lang="en-US" altLang="ko-KR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 마킹</a:t>
                      </a:r>
                      <a:endParaRPr lang="ko-KR" altLang="en-US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174442760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12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Wild Daub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원하는 위치에 </a:t>
                      </a:r>
                      <a:r>
                        <a:rPr lang="ko-KR" altLang="en-US" sz="900" b="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도브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1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회 가능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619932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13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Triple Daub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카드당 랜덤 </a:t>
                      </a:r>
                      <a:r>
                        <a:rPr lang="ko-KR" altLang="en-US" sz="900" b="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도브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 3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회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703861514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14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Instant Win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카드당 무지개 스퀘어 </a:t>
                      </a:r>
                      <a:r>
                        <a:rPr lang="en-US" altLang="ko-KR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r>
                        <a:rPr lang="ko-KR" altLang="en-US" sz="900" b="0" i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개씩 마킹</a:t>
                      </a:r>
                      <a:endParaRPr lang="ko-KR" altLang="en-US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947367873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1499451-FBEF-4D9A-A01C-F6B72BCF9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00967"/>
              </p:ext>
            </p:extLst>
          </p:nvPr>
        </p:nvGraphicFramePr>
        <p:xfrm>
          <a:off x="7767782" y="1272214"/>
          <a:ext cx="4109486" cy="2498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0979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2578507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컬럼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설명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SKILL_IDX</a:t>
                      </a:r>
                      <a:endParaRPr lang="ko-KR" altLang="en-US" sz="7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가디언 스킬 고유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IDX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SKILL_RARITY</a:t>
                      </a:r>
                      <a:endParaRPr lang="ko-KR" altLang="en-US" sz="7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가디언 스킬 등급</a:t>
                      </a:r>
                      <a:endParaRPr lang="en-US" altLang="ko-KR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565200" lvl="1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 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→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Common</a:t>
                      </a:r>
                    </a:p>
                    <a:p>
                      <a:pPr marL="565200" lvl="1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 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→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Uncommon</a:t>
                      </a:r>
                    </a:p>
                    <a:p>
                      <a:pPr marL="565200" lvl="1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 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→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Rare</a:t>
                      </a:r>
                    </a:p>
                    <a:p>
                      <a:pPr marL="565200" lvl="1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 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→ 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Epic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가디언 스킬 이름</a:t>
                      </a:r>
                      <a:endParaRPr lang="en-US" altLang="ko-KR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가디언 스킬 사용 후 게이지 </a:t>
                      </a:r>
                      <a:r>
                        <a:rPr lang="ko-KR" altLang="en-US" sz="900" b="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쿨타임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시간</a:t>
                      </a: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(sec.)</a:t>
                      </a:r>
                    </a:p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N 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기입</a:t>
                      </a:r>
                      <a:endParaRPr lang="en-US" altLang="ko-KR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한 판당 스킬 사용 가능 횟수</a:t>
                      </a:r>
                      <a:endParaRPr lang="en-US" altLang="ko-KR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565200" lvl="1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99 </a:t>
                      </a: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→ 무제한 사용</a:t>
                      </a:r>
                      <a:endParaRPr lang="en-US" altLang="ko-KR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SKILL_DESCRIPTION</a:t>
                      </a:r>
                      <a:endParaRPr lang="ko-KR" altLang="en-US" sz="7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설명</a:t>
                      </a:r>
                      <a:endParaRPr lang="en-US" altLang="ko-KR" sz="9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905438300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B61294-9B0B-4F24-A360-0153874A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7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50166E9-5E62-44BF-A14F-AF930F0DD478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12" name="Object 52">
              <a:extLst>
                <a:ext uri="{FF2B5EF4-FFF2-40B4-BE49-F238E27FC236}">
                  <a16:creationId xmlns:a16="http://schemas.microsoft.com/office/drawing/2014/main" id="{63FCE4A7-8A5F-46B8-985C-018C097AED84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4.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정보 테이블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16" name="Object 52">
              <a:extLst>
                <a:ext uri="{FF2B5EF4-FFF2-40B4-BE49-F238E27FC236}">
                  <a16:creationId xmlns:a16="http://schemas.microsoft.com/office/drawing/2014/main" id="{83E2B4AA-1AEE-458A-9F53-3C673DC8A139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3659815-9ABC-49F8-A5C7-13391D8C222D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1957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9CB4F7-2CA9-4E04-9538-0BAEE3BFC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470882"/>
              </p:ext>
            </p:extLst>
          </p:nvPr>
        </p:nvGraphicFramePr>
        <p:xfrm>
          <a:off x="248336" y="1192994"/>
          <a:ext cx="5640098" cy="5532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1.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크레딧 스퀘어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Credit Square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카드당 크레딧 스퀘어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개씩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임의의 빙고 칸에 스퀘어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연출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시 다음 이미지가 빙고판에 나타남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투명한 크레딧 이미지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칸 숫자의 하위 레이어에 위치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도브하면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정산 시 크레딧 보상 추가 획득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일반 정산 프로세스에 포함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※</a:t>
                      </a:r>
                      <a:r>
                        <a:rPr lang="ko-KR" altLang="en-US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예외 사항</a:t>
                      </a:r>
                      <a:endParaRPr lang="en-US" altLang="ko-KR" sz="900" b="1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스퀘어 마크가 이미 새겨진 빙고 칸에는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마킹되지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마킹할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빙고 칸이 없으면 크레딧 스퀘어 스킬은 등장하지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D6D766E4-FCC3-45CF-AB1D-8B7F511BB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87" y="1696709"/>
            <a:ext cx="5415466" cy="1388190"/>
          </a:xfrm>
          <a:prstGeom prst="rect">
            <a:avLst/>
          </a:prstGeom>
        </p:spPr>
      </p:pic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5F3554E-B8C1-4FC4-8BF6-6928815B0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960219"/>
              </p:ext>
            </p:extLst>
          </p:nvPr>
        </p:nvGraphicFramePr>
        <p:xfrm>
          <a:off x="6157263" y="1192994"/>
          <a:ext cx="5640098" cy="55174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2.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코인 스퀘어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Coin Square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카드당 코인 스퀘어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개씩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임의의 빙고 칸에 스퀘어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연출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marR="0" lvl="1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시 다음 이미지가 빙고판에 나타남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투명한 크레딧 이미지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칸 숫자의 하위 레이어에 위치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도브하면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정산 시 코인 보상 추가 획득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일반 정산 프로세스에 포함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※</a:t>
                      </a:r>
                      <a:r>
                        <a:rPr lang="ko-KR" altLang="en-US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예외 사항</a:t>
                      </a:r>
                      <a:endParaRPr lang="en-US" altLang="ko-KR" sz="900" b="1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스퀘어 마크가 이미 새겨진 빙고 칸에는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마킹되지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마킹할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빙고 칸이 없으면 코인 스퀘어 스킬은 등장하지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01A8197F-A90F-44B3-8C98-A07879C0DD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129" y="1717236"/>
            <a:ext cx="5614484" cy="136766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39F04D-1853-45D7-A34A-4BB320B1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8</a:t>
            </a:fld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3643488-937B-4EEF-A4BA-CB3802DA2B9B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17" name="Object 52">
              <a:extLst>
                <a:ext uri="{FF2B5EF4-FFF2-40B4-BE49-F238E27FC236}">
                  <a16:creationId xmlns:a16="http://schemas.microsoft.com/office/drawing/2014/main" id="{79A109AB-4622-442E-8469-31F68BD5AB9D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5.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상세 정보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18" name="Object 52">
              <a:extLst>
                <a:ext uri="{FF2B5EF4-FFF2-40B4-BE49-F238E27FC236}">
                  <a16:creationId xmlns:a16="http://schemas.microsoft.com/office/drawing/2014/main" id="{F98BB9F7-442A-480E-841A-7FC327899A95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678E1A8-7EA9-4129-803F-23381E0E06F0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D12D14D-48B6-41A4-A7B4-D58ACBDC8453}"/>
              </a:ext>
            </a:extLst>
          </p:cNvPr>
          <p:cNvSpPr/>
          <p:nvPr/>
        </p:nvSpPr>
        <p:spPr>
          <a:xfrm>
            <a:off x="455904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98850C2-A94B-4402-BB83-0DCC107C5F14}"/>
              </a:ext>
            </a:extLst>
          </p:cNvPr>
          <p:cNvSpPr/>
          <p:nvPr/>
        </p:nvSpPr>
        <p:spPr>
          <a:xfrm>
            <a:off x="2468309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CD040EB-0B5D-4BE6-A768-FF6363FEE3C8}"/>
              </a:ext>
            </a:extLst>
          </p:cNvPr>
          <p:cNvSpPr/>
          <p:nvPr/>
        </p:nvSpPr>
        <p:spPr>
          <a:xfrm>
            <a:off x="4609038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ABA926B-1FA1-46E3-8FC0-890AAB00B2D1}"/>
              </a:ext>
            </a:extLst>
          </p:cNvPr>
          <p:cNvSpPr/>
          <p:nvPr/>
        </p:nvSpPr>
        <p:spPr>
          <a:xfrm>
            <a:off x="6489302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275EF3B-9A67-4C41-B2CF-4BE3AECB4027}"/>
              </a:ext>
            </a:extLst>
          </p:cNvPr>
          <p:cNvSpPr/>
          <p:nvPr/>
        </p:nvSpPr>
        <p:spPr>
          <a:xfrm>
            <a:off x="8451580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204680E-CDE3-4127-A5B3-55CB6444EEA7}"/>
              </a:ext>
            </a:extLst>
          </p:cNvPr>
          <p:cNvSpPr/>
          <p:nvPr/>
        </p:nvSpPr>
        <p:spPr>
          <a:xfrm>
            <a:off x="10578274" y="1479799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579353-622D-47C5-A03A-411F5DEEDC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73" y="4702746"/>
            <a:ext cx="952500" cy="90094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20245C3-5514-4A04-901D-ABEA61C73795}"/>
              </a:ext>
            </a:extLst>
          </p:cNvPr>
          <p:cNvSpPr/>
          <p:nvPr/>
        </p:nvSpPr>
        <p:spPr>
          <a:xfrm>
            <a:off x="4683572" y="471250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A4383D6-141D-4439-A131-0ADEFB11FF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385" y="4580051"/>
            <a:ext cx="1170749" cy="1217409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6861EF-3608-4304-8238-4961D7035C2C}"/>
              </a:ext>
            </a:extLst>
          </p:cNvPr>
          <p:cNvSpPr/>
          <p:nvPr/>
        </p:nvSpPr>
        <p:spPr>
          <a:xfrm>
            <a:off x="10588978" y="471250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A639817-BC3E-404D-9D32-65E4B994AE86}"/>
              </a:ext>
            </a:extLst>
          </p:cNvPr>
          <p:cNvSpPr/>
          <p:nvPr/>
        </p:nvSpPr>
        <p:spPr>
          <a:xfrm>
            <a:off x="4672751" y="4429125"/>
            <a:ext cx="973908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스퀘어 </a:t>
            </a:r>
            <a:r>
              <a:rPr lang="ko-KR" altLang="en-US" sz="900" b="1" dirty="0" err="1"/>
              <a:t>마킹된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빙고 칸 형태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83E66FFA-9202-4A9F-AF97-2F5DE6091117}"/>
              </a:ext>
            </a:extLst>
          </p:cNvPr>
          <p:cNvSpPr/>
          <p:nvPr/>
        </p:nvSpPr>
        <p:spPr>
          <a:xfrm>
            <a:off x="10578274" y="4429125"/>
            <a:ext cx="973908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스퀘어 </a:t>
            </a:r>
            <a:r>
              <a:rPr lang="ko-KR" altLang="en-US" sz="900" b="1" dirty="0" err="1"/>
              <a:t>마킹된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빙고 칸 형태</a:t>
            </a:r>
          </a:p>
        </p:txBody>
      </p:sp>
    </p:spTree>
    <p:extLst>
      <p:ext uri="{BB962C8B-B14F-4D97-AF65-F5344CB8AC3E}">
        <p14:creationId xmlns:p14="http://schemas.microsoft.com/office/powerpoint/2010/main" val="3511822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9CB4F7-2CA9-4E04-9538-0BAEE3BFC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233589"/>
              </p:ext>
            </p:extLst>
          </p:nvPr>
        </p:nvGraphicFramePr>
        <p:xfrm>
          <a:off x="244221" y="1192994"/>
          <a:ext cx="5640098" cy="5532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3. </a:t>
                      </a:r>
                      <a:r>
                        <a:rPr lang="ko-KR" altLang="en-US" sz="900" b="1" dirty="0" err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젬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스퀘어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Gem Square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카드당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젬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유료 재화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스퀘어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개씩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임의의 빙고 칸에 스퀘어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연출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시 다음 이미지가 빙고판에 나타남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투명한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젬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이미지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칸 숫자의 하위 레이어에 위치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도브하면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정산 시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젬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보상 추가 획득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일반 정산 프로세스에 포함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※</a:t>
                      </a:r>
                      <a:r>
                        <a:rPr lang="ko-KR" altLang="en-US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예외 사항</a:t>
                      </a:r>
                      <a:endParaRPr lang="en-US" altLang="ko-KR" sz="900" b="1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스퀘어 마크가 이미 새겨진 빙고 칸에는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마킹되지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마킹할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빙고 칸이 없으면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젬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스퀘어 스킬은 등장하지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D6D766E4-FCC3-45CF-AB1D-8B7F511BB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387" y="1731212"/>
            <a:ext cx="5415466" cy="1319183"/>
          </a:xfrm>
          <a:prstGeom prst="rect">
            <a:avLst/>
          </a:prstGeom>
        </p:spPr>
      </p:pic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5F3554E-B8C1-4FC4-8BF6-6928815B0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350709"/>
              </p:ext>
            </p:extLst>
          </p:nvPr>
        </p:nvGraphicFramePr>
        <p:xfrm>
          <a:off x="6157263" y="1192994"/>
          <a:ext cx="5640098" cy="55174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4. </a:t>
                      </a:r>
                      <a:r>
                        <a:rPr lang="ko-KR" altLang="en-US" sz="900" b="1" dirty="0" err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트레저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스퀘어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Treasure Square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카드당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트레저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스퀘어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개씩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임의의 빙고 칸에 스퀘어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연출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시 다음 이미지가 빙고판에 나타남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투명한 상자 이미지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칸 숫자의 하위 레이어에 위치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457200" lvl="1" indent="0" algn="just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도브하면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정산 시 상자 보상 추가 획득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일반 정산 프로세스에 포함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시 상자 아이콘이 숫자 위에 노출되고 라운드 종료 시 까지 유지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※</a:t>
                      </a:r>
                      <a:r>
                        <a:rPr lang="ko-KR" altLang="en-US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예외 사항</a:t>
                      </a:r>
                      <a:endParaRPr lang="en-US" altLang="ko-KR" sz="900" b="1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스퀘어 마크가 이미 새겨진 빙고 칸에는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마킹되지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마킹할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빙고 칸이 없으면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트레저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스퀘어 스킬은 등장하지 않음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01A8197F-A90F-44B3-8C98-A07879C0DD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8129" y="1717236"/>
            <a:ext cx="5614483" cy="136766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0C948C-B0FD-422B-A598-466B6798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9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7584695-2A77-4CE0-A768-46CAECEF458C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18" name="Object 52">
              <a:extLst>
                <a:ext uri="{FF2B5EF4-FFF2-40B4-BE49-F238E27FC236}">
                  <a16:creationId xmlns:a16="http://schemas.microsoft.com/office/drawing/2014/main" id="{823FC110-58F0-4286-9328-E211F0706E42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5.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상세 정보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0" name="Object 52">
              <a:extLst>
                <a:ext uri="{FF2B5EF4-FFF2-40B4-BE49-F238E27FC236}">
                  <a16:creationId xmlns:a16="http://schemas.microsoft.com/office/drawing/2014/main" id="{A4FA24EF-6403-4986-94DE-E603DEAF16E3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191E042-95DF-41FF-AD7B-CD41DBAEA4EA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82EE6DF-3AEA-4F78-A0E9-A8D0101C7EB6}"/>
              </a:ext>
            </a:extLst>
          </p:cNvPr>
          <p:cNvSpPr/>
          <p:nvPr/>
        </p:nvSpPr>
        <p:spPr>
          <a:xfrm>
            <a:off x="419708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64D4AE2-5930-4DC6-AD19-745D60A4879E}"/>
              </a:ext>
            </a:extLst>
          </p:cNvPr>
          <p:cNvSpPr/>
          <p:nvPr/>
        </p:nvSpPr>
        <p:spPr>
          <a:xfrm>
            <a:off x="2363507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0A50589-4430-48B9-AACF-F31593FC0E90}"/>
              </a:ext>
            </a:extLst>
          </p:cNvPr>
          <p:cNvSpPr/>
          <p:nvPr/>
        </p:nvSpPr>
        <p:spPr>
          <a:xfrm>
            <a:off x="4456325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162509D-D578-4035-921A-5BC579BA95D8}"/>
              </a:ext>
            </a:extLst>
          </p:cNvPr>
          <p:cNvSpPr/>
          <p:nvPr/>
        </p:nvSpPr>
        <p:spPr>
          <a:xfrm>
            <a:off x="6416969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344359F-0636-4B82-82AE-4002886968EF}"/>
              </a:ext>
            </a:extLst>
          </p:cNvPr>
          <p:cNvSpPr/>
          <p:nvPr/>
        </p:nvSpPr>
        <p:spPr>
          <a:xfrm>
            <a:off x="8403955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D73D1CA-CC62-41D6-8980-305C9D6544E9}"/>
              </a:ext>
            </a:extLst>
          </p:cNvPr>
          <p:cNvSpPr/>
          <p:nvPr/>
        </p:nvSpPr>
        <p:spPr>
          <a:xfrm>
            <a:off x="10578274" y="1479799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8D49888-C82B-4D49-9CA1-3E4A2C34BDC7}"/>
              </a:ext>
            </a:extLst>
          </p:cNvPr>
          <p:cNvSpPr/>
          <p:nvPr/>
        </p:nvSpPr>
        <p:spPr>
          <a:xfrm>
            <a:off x="4646940" y="4429125"/>
            <a:ext cx="973908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스퀘어 </a:t>
            </a:r>
            <a:r>
              <a:rPr lang="ko-KR" altLang="en-US" sz="900" b="1" dirty="0" err="1"/>
              <a:t>마킹된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빙고 칸 형태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3700C9E-6356-4C24-9A71-BCC00E306531}"/>
              </a:ext>
            </a:extLst>
          </p:cNvPr>
          <p:cNvSpPr/>
          <p:nvPr/>
        </p:nvSpPr>
        <p:spPr>
          <a:xfrm>
            <a:off x="10578274" y="4429125"/>
            <a:ext cx="973908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스퀘어 </a:t>
            </a:r>
            <a:r>
              <a:rPr lang="ko-KR" altLang="en-US" sz="900" b="1" dirty="0" err="1"/>
              <a:t>마킹된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빙고 칸 형태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2AD9B41-D334-4855-8334-98ED08B424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353" y="4744939"/>
            <a:ext cx="973908" cy="874122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0A166C63-EE82-4FD3-A5B5-3700F7DB4BDC}"/>
              </a:ext>
            </a:extLst>
          </p:cNvPr>
          <p:cNvSpPr/>
          <p:nvPr/>
        </p:nvSpPr>
        <p:spPr>
          <a:xfrm>
            <a:off x="4657761" y="471250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DE112E-E4AF-40C6-8A27-613BD16DE7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643" y="4690761"/>
            <a:ext cx="1129169" cy="925453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648D06E9-93C7-4C07-82DA-EDC525ABF9C5}"/>
              </a:ext>
            </a:extLst>
          </p:cNvPr>
          <p:cNvSpPr/>
          <p:nvPr/>
        </p:nvSpPr>
        <p:spPr>
          <a:xfrm>
            <a:off x="10588978" y="471250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3527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9CB4F7-2CA9-4E04-9538-0BAEE3BFC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057758"/>
              </p:ext>
            </p:extLst>
          </p:nvPr>
        </p:nvGraphicFramePr>
        <p:xfrm>
          <a:off x="244221" y="1192994"/>
          <a:ext cx="5640098" cy="5532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5.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싱글 </a:t>
                      </a:r>
                      <a:r>
                        <a:rPr lang="ko-KR" altLang="en-US" sz="900" b="1" dirty="0" err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도브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5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Single Daub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카드당 랜덤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볼에 등장하는 숫자와 관계 없이 임의의 빙고 칸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개에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성공 시킴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연출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marR="0" lvl="1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시 임의의 빙고 칸 중앙에서 노란 빛이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터져나옴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marR="0" lvl="1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빛이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터져나오는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연출 종료 후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카드에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가능한 빙고 칸이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 이상 남아있는 경우 등장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D6D766E4-FCC3-45CF-AB1D-8B7F511BB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4221" y="1696709"/>
            <a:ext cx="5429940" cy="1571625"/>
          </a:xfrm>
          <a:prstGeom prst="rect">
            <a:avLst/>
          </a:prstGeom>
        </p:spPr>
      </p:pic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5F3554E-B8C1-4FC4-8BF6-6928815B0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621670"/>
              </p:ext>
            </p:extLst>
          </p:nvPr>
        </p:nvGraphicFramePr>
        <p:xfrm>
          <a:off x="6157263" y="1192994"/>
          <a:ext cx="5640098" cy="5532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6.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더블 코인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6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Double</a:t>
                      </a:r>
                      <a:r>
                        <a:rPr lang="ko-KR" altLang="en-US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Coin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indent="0" algn="just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정산 시 획득 코인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배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라운드가 정상적으로 종료된 후 정산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페이즈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(Phase)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에서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코인양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배 증가</a:t>
                      </a:r>
                      <a:endParaRPr lang="en-US" altLang="ko-KR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연출 방식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(1) 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코인 두 배 적용되기 전 일반 정산 결과를 보여준 후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(2) 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코인 두 배 적용된 정산 결과를 보여줌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9FF1CC5-9928-44D8-B7DF-D5D0185A4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8480" y="1828411"/>
            <a:ext cx="5377663" cy="950249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084E6C-ED89-491C-8CFD-5E69B7CA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10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D50873E-322E-454A-89C0-893EBBCC3D89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18" name="Object 52">
              <a:extLst>
                <a:ext uri="{FF2B5EF4-FFF2-40B4-BE49-F238E27FC236}">
                  <a16:creationId xmlns:a16="http://schemas.microsoft.com/office/drawing/2014/main" id="{E180D005-25BF-46F5-A026-385CA7FBA373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5.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상세 정보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19" name="Object 52">
              <a:extLst>
                <a:ext uri="{FF2B5EF4-FFF2-40B4-BE49-F238E27FC236}">
                  <a16:creationId xmlns:a16="http://schemas.microsoft.com/office/drawing/2014/main" id="{40F6C82B-16FA-4615-B7AF-03C00C89C97A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4F796D3-61A6-4552-8CAF-54690B1B9CA0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D19BB24-5E36-4B4D-91C9-AC345CBCA639}"/>
              </a:ext>
            </a:extLst>
          </p:cNvPr>
          <p:cNvSpPr/>
          <p:nvPr/>
        </p:nvSpPr>
        <p:spPr>
          <a:xfrm>
            <a:off x="423823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59D7E3A-6373-4373-9732-DFFFCA7629E0}"/>
              </a:ext>
            </a:extLst>
          </p:cNvPr>
          <p:cNvSpPr/>
          <p:nvPr/>
        </p:nvSpPr>
        <p:spPr>
          <a:xfrm>
            <a:off x="2426804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779E6ED-4759-4346-863E-68268395C385}"/>
              </a:ext>
            </a:extLst>
          </p:cNvPr>
          <p:cNvSpPr/>
          <p:nvPr/>
        </p:nvSpPr>
        <p:spPr>
          <a:xfrm>
            <a:off x="4609038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D9636D1-6444-40A4-BD25-38BCF92B4B3B}"/>
              </a:ext>
            </a:extLst>
          </p:cNvPr>
          <p:cNvSpPr/>
          <p:nvPr/>
        </p:nvSpPr>
        <p:spPr>
          <a:xfrm>
            <a:off x="6260735" y="147409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D519C2B-4242-4A16-B29A-B5DFED4E34C4}"/>
              </a:ext>
            </a:extLst>
          </p:cNvPr>
          <p:cNvSpPr/>
          <p:nvPr/>
        </p:nvSpPr>
        <p:spPr>
          <a:xfrm>
            <a:off x="8791575" y="1479799"/>
            <a:ext cx="1540345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 및 효과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F4EE6C5-64BC-4750-9CB5-232E568BDB7F}"/>
              </a:ext>
            </a:extLst>
          </p:cNvPr>
          <p:cNvSpPr/>
          <p:nvPr/>
        </p:nvSpPr>
        <p:spPr>
          <a:xfrm>
            <a:off x="1755449" y="5199391"/>
            <a:ext cx="968701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빙고 칸 형태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0D012A2-7B55-4971-AB42-732AE6CF4AE4}"/>
              </a:ext>
            </a:extLst>
          </p:cNvPr>
          <p:cNvSpPr/>
          <p:nvPr/>
        </p:nvSpPr>
        <p:spPr>
          <a:xfrm>
            <a:off x="1766270" y="5482772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3AC2EE-5F35-405F-8624-5213753745E6}"/>
              </a:ext>
            </a:extLst>
          </p:cNvPr>
          <p:cNvSpPr/>
          <p:nvPr/>
        </p:nvSpPr>
        <p:spPr>
          <a:xfrm>
            <a:off x="2314575" y="3048000"/>
            <a:ext cx="771525" cy="216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F0837B8-BC87-45E7-85CB-8BBDB7B9A89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4074" b="70000" l="72839" r="74375">
                        <a14:foregroundMark x1="73203" y1="65000" x2="72943" y2="67593"/>
                        <a14:foregroundMark x1="72943" y1="67593" x2="73490" y2="69722"/>
                        <a14:foregroundMark x1="73490" y1="69722" x2="74219" y2="68796"/>
                        <a14:foregroundMark x1="74219" y1="68796" x2="74375" y2="65741"/>
                        <a14:foregroundMark x1="74375" y1="65741" x2="73698" y2="64167"/>
                        <a14:foregroundMark x1="73698" y1="64167" x2="73177" y2="65000"/>
                        <a14:foregroundMark x1="72839" y1="66481" x2="72865" y2="67685"/>
                        <a14:foregroundMark x1="73568" y1="69722" x2="73932" y2="69444"/>
                        <a14:foregroundMark x1="73906" y1="69352" x2="74036" y2="68981"/>
                        <a14:foregroundMark x1="74010" y1="69815" x2="73854" y2="70000"/>
                        <a14:foregroundMark x1="73594" y1="64259" x2="73542" y2="64259"/>
                        <a14:foregroundMark x1="73776" y1="64074" x2="73698" y2="64167"/>
                        <a14:foregroundMark x1="73229" y1="64630" x2="73229" y2="64630"/>
                        <a14:foregroundMark x1="73620" y1="69722" x2="73828" y2="70000"/>
                      </a14:backgroundRemoval>
                    </a14:imgEffect>
                  </a14:imgLayer>
                </a14:imgProps>
              </a:ext>
            </a:extLst>
          </a:blip>
          <a:srcRect l="72790" t="63549" r="25454" b="29500"/>
          <a:stretch/>
        </p:blipFill>
        <p:spPr>
          <a:xfrm>
            <a:off x="1847042" y="5461027"/>
            <a:ext cx="871728" cy="970789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9089FC0-17CA-4FDD-ACB0-897AC76A6B2C}"/>
              </a:ext>
            </a:extLst>
          </p:cNvPr>
          <p:cNvSpPr/>
          <p:nvPr/>
        </p:nvSpPr>
        <p:spPr>
          <a:xfrm>
            <a:off x="3537689" y="5185221"/>
            <a:ext cx="973908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연출 종료 후 빙고 칸 형태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6E10238-B754-4421-939F-8CBF1D2EFBB4}"/>
              </a:ext>
            </a:extLst>
          </p:cNvPr>
          <p:cNvSpPr/>
          <p:nvPr/>
        </p:nvSpPr>
        <p:spPr>
          <a:xfrm>
            <a:off x="3548510" y="5468602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  <p:sp>
        <p:nvSpPr>
          <p:cNvPr id="4" name="화살표: 갈매기형 수장 3">
            <a:extLst>
              <a:ext uri="{FF2B5EF4-FFF2-40B4-BE49-F238E27FC236}">
                <a16:creationId xmlns:a16="http://schemas.microsoft.com/office/drawing/2014/main" id="{661B63A7-38F6-4C68-A76B-5F9EEE46931D}"/>
              </a:ext>
            </a:extLst>
          </p:cNvPr>
          <p:cNvSpPr/>
          <p:nvPr/>
        </p:nvSpPr>
        <p:spPr>
          <a:xfrm>
            <a:off x="2913471" y="5772841"/>
            <a:ext cx="257175" cy="269069"/>
          </a:xfrm>
          <a:prstGeom prst="chevr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화살표: 갈매기형 수장 34">
            <a:extLst>
              <a:ext uri="{FF2B5EF4-FFF2-40B4-BE49-F238E27FC236}">
                <a16:creationId xmlns:a16="http://schemas.microsoft.com/office/drawing/2014/main" id="{F1669397-6A66-4089-93A1-BF034F936843}"/>
              </a:ext>
            </a:extLst>
          </p:cNvPr>
          <p:cNvSpPr/>
          <p:nvPr/>
        </p:nvSpPr>
        <p:spPr>
          <a:xfrm>
            <a:off x="3105076" y="5772841"/>
            <a:ext cx="257175" cy="269069"/>
          </a:xfrm>
          <a:prstGeom prst="chevr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9DB8297-A5CE-4136-9E8B-621B5ED270A5}"/>
              </a:ext>
            </a:extLst>
          </p:cNvPr>
          <p:cNvSpPr/>
          <p:nvPr/>
        </p:nvSpPr>
        <p:spPr>
          <a:xfrm>
            <a:off x="3581400" y="5492389"/>
            <a:ext cx="885825" cy="88936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388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9CB4F7-2CA9-4E04-9538-0BAEE3BFC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144014"/>
              </p:ext>
            </p:extLst>
          </p:nvPr>
        </p:nvGraphicFramePr>
        <p:xfrm>
          <a:off x="244221" y="1192994"/>
          <a:ext cx="5640098" cy="5532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7. XP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스퀘어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7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XP Square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카드당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XP(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경험치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스퀘어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개씩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임의의 빙고 칸에 스퀘어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연출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시 다음 이미지가 빙고판에 나타남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투명한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XP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이미지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칸 숫자의 하위 레이어에 위치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도브하면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정산 시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XP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보상 추가 획득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일반 정산 프로세스에 포함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457200" lvl="1" indent="0" algn="just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※</a:t>
                      </a:r>
                      <a:r>
                        <a:rPr lang="ko-KR" altLang="en-US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예외 사항</a:t>
                      </a:r>
                      <a:endParaRPr lang="en-US" altLang="ko-KR" sz="900" b="1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스퀘어 마크가 이미 새겨진 빙고 칸에는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마킹되지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마킹할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빙고 칸이 없으면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XP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스퀘어 스킬은 등장하지 않음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D6D766E4-FCC3-45CF-AB1D-8B7F511BB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4221" y="1743961"/>
            <a:ext cx="5429940" cy="1293685"/>
          </a:xfrm>
          <a:prstGeom prst="rect">
            <a:avLst/>
          </a:prstGeom>
        </p:spPr>
      </p:pic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5F3554E-B8C1-4FC4-8BF6-6928815B0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171634"/>
              </p:ext>
            </p:extLst>
          </p:nvPr>
        </p:nvGraphicFramePr>
        <p:xfrm>
          <a:off x="6157263" y="1192994"/>
          <a:ext cx="5640098" cy="5532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8.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더블 </a:t>
                      </a:r>
                      <a:r>
                        <a:rPr lang="ko-KR" altLang="en-US" sz="900" b="1" dirty="0" err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도브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8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Double Daub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카드당 랜덤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볼에 등장하는 숫자와 관계 없이 임의의 빙고 칸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개에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성공 시킴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연출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marR="0" lvl="1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시 임의의 빙고 칸 중앙에서 노란 빛이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터져나옴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marR="0" lvl="1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빛이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터져나오는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연출 종료 후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카드에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가능한 스퀘어가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 이상 남아있는 경우 등장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9FF1CC5-9928-44D8-B7DF-D5D0185A4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34738" y="1547406"/>
            <a:ext cx="5640098" cy="1762370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C7AE55-30C2-44EA-89CA-19F1CC568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11</a:t>
            </a:fld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05F0EDD-BF3F-4C44-840A-242E8C4319AC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19" name="Object 52">
              <a:extLst>
                <a:ext uri="{FF2B5EF4-FFF2-40B4-BE49-F238E27FC236}">
                  <a16:creationId xmlns:a16="http://schemas.microsoft.com/office/drawing/2014/main" id="{C47C7DFC-AC51-408B-BBEB-C7FD93532F78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5.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상세 정보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0" name="Object 52">
              <a:extLst>
                <a:ext uri="{FF2B5EF4-FFF2-40B4-BE49-F238E27FC236}">
                  <a16:creationId xmlns:a16="http://schemas.microsoft.com/office/drawing/2014/main" id="{B3789B42-A2DA-4701-975C-B2A9F2F399F0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DC04980-00C0-4639-B844-97D2A0321C7F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B3DBFAD-1AB2-4C71-9A62-39DD8A9273BA}"/>
              </a:ext>
            </a:extLst>
          </p:cNvPr>
          <p:cNvSpPr/>
          <p:nvPr/>
        </p:nvSpPr>
        <p:spPr>
          <a:xfrm>
            <a:off x="394639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47E3BC4-CB1C-4A6D-B0C8-8244853D5E0F}"/>
              </a:ext>
            </a:extLst>
          </p:cNvPr>
          <p:cNvSpPr/>
          <p:nvPr/>
        </p:nvSpPr>
        <p:spPr>
          <a:xfrm>
            <a:off x="2407826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709BAA7-4F44-406A-9276-A4767FD95B0E}"/>
              </a:ext>
            </a:extLst>
          </p:cNvPr>
          <p:cNvSpPr/>
          <p:nvPr/>
        </p:nvSpPr>
        <p:spPr>
          <a:xfrm>
            <a:off x="4609038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FBCE87B-0BFC-4878-AEB6-F7D150BAF742}"/>
              </a:ext>
            </a:extLst>
          </p:cNvPr>
          <p:cNvSpPr/>
          <p:nvPr/>
        </p:nvSpPr>
        <p:spPr>
          <a:xfrm>
            <a:off x="6338114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41CBD5C-40E0-495B-AC9E-035C914A0996}"/>
              </a:ext>
            </a:extLst>
          </p:cNvPr>
          <p:cNvSpPr/>
          <p:nvPr/>
        </p:nvSpPr>
        <p:spPr>
          <a:xfrm>
            <a:off x="8377062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198A0D0-6D0B-41E1-A3B6-6E0DE3A8C829}"/>
              </a:ext>
            </a:extLst>
          </p:cNvPr>
          <p:cNvSpPr/>
          <p:nvPr/>
        </p:nvSpPr>
        <p:spPr>
          <a:xfrm>
            <a:off x="10559224" y="1479799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25EE179-037C-4B08-930E-A7C988B5082D}"/>
              </a:ext>
            </a:extLst>
          </p:cNvPr>
          <p:cNvSpPr/>
          <p:nvPr/>
        </p:nvSpPr>
        <p:spPr>
          <a:xfrm>
            <a:off x="8205787" y="3113636"/>
            <a:ext cx="771525" cy="216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6280E71-F755-4020-8372-C65AFFFCFFA2}"/>
              </a:ext>
            </a:extLst>
          </p:cNvPr>
          <p:cNvSpPr/>
          <p:nvPr/>
        </p:nvSpPr>
        <p:spPr>
          <a:xfrm>
            <a:off x="4646940" y="4429125"/>
            <a:ext cx="973908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스퀘어 </a:t>
            </a:r>
            <a:r>
              <a:rPr lang="ko-KR" altLang="en-US" sz="900" b="1" dirty="0" err="1"/>
              <a:t>마킹된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빙고 칸 형태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864DCFC-1F84-4D25-8061-A56442D0B378}"/>
              </a:ext>
            </a:extLst>
          </p:cNvPr>
          <p:cNvGrpSpPr/>
          <p:nvPr/>
        </p:nvGrpSpPr>
        <p:grpSpPr>
          <a:xfrm>
            <a:off x="4711678" y="4765500"/>
            <a:ext cx="841631" cy="1228363"/>
            <a:chOff x="-466629" y="1567209"/>
            <a:chExt cx="1823321" cy="2661142"/>
          </a:xfrm>
          <a:solidFill>
            <a:srgbClr val="41CCDA">
              <a:alpha val="50000"/>
            </a:srgbClr>
          </a:solidFill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8728F0C-324C-4622-95C9-827FDECEAECE}"/>
                </a:ext>
              </a:extLst>
            </p:cNvPr>
            <p:cNvSpPr/>
            <p:nvPr/>
          </p:nvSpPr>
          <p:spPr>
            <a:xfrm>
              <a:off x="-466629" y="1567209"/>
              <a:ext cx="1823321" cy="182332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A49AD46-BA3D-40AA-97C4-C7AA49CB1343}"/>
                </a:ext>
              </a:extLst>
            </p:cNvPr>
            <p:cNvSpPr txBox="1"/>
            <p:nvPr/>
          </p:nvSpPr>
          <p:spPr>
            <a:xfrm>
              <a:off x="-110486" y="1954661"/>
              <a:ext cx="1453077" cy="2273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1"/>
                  </a:solidFill>
                </a:rPr>
                <a:t>XP</a:t>
              </a:r>
              <a:endParaRPr lang="ko-KR" altLang="en-US" sz="28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E8D74FD-15E5-40EB-9326-C7BBB99F768F}"/>
              </a:ext>
            </a:extLst>
          </p:cNvPr>
          <p:cNvSpPr/>
          <p:nvPr/>
        </p:nvSpPr>
        <p:spPr>
          <a:xfrm>
            <a:off x="4657761" y="471250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D275BA37-AB32-4344-87BA-79E05F6672BA}"/>
              </a:ext>
            </a:extLst>
          </p:cNvPr>
          <p:cNvSpPr/>
          <p:nvPr/>
        </p:nvSpPr>
        <p:spPr>
          <a:xfrm>
            <a:off x="7666560" y="5231675"/>
            <a:ext cx="968701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빙고 칸 형태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6A6E833-9E6A-4ADB-8E4A-8FA1A11EAEF0}"/>
              </a:ext>
            </a:extLst>
          </p:cNvPr>
          <p:cNvSpPr/>
          <p:nvPr/>
        </p:nvSpPr>
        <p:spPr>
          <a:xfrm>
            <a:off x="7677381" y="551505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A6CAE338-44E2-4666-9A2E-65CC2A313F1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4074" b="70000" l="72839" r="74375">
                        <a14:foregroundMark x1="73203" y1="65000" x2="72943" y2="67593"/>
                        <a14:foregroundMark x1="72943" y1="67593" x2="73490" y2="69722"/>
                        <a14:foregroundMark x1="73490" y1="69722" x2="74219" y2="68796"/>
                        <a14:foregroundMark x1="74219" y1="68796" x2="74375" y2="65741"/>
                        <a14:foregroundMark x1="74375" y1="65741" x2="73698" y2="64167"/>
                        <a14:foregroundMark x1="73698" y1="64167" x2="73177" y2="65000"/>
                        <a14:foregroundMark x1="72839" y1="66481" x2="72865" y2="67685"/>
                        <a14:foregroundMark x1="73568" y1="69722" x2="73932" y2="69444"/>
                        <a14:foregroundMark x1="73906" y1="69352" x2="74036" y2="68981"/>
                        <a14:foregroundMark x1="74010" y1="69815" x2="73854" y2="70000"/>
                        <a14:foregroundMark x1="73594" y1="64259" x2="73542" y2="64259"/>
                        <a14:foregroundMark x1="73776" y1="64074" x2="73698" y2="64167"/>
                        <a14:foregroundMark x1="73229" y1="64630" x2="73229" y2="64630"/>
                        <a14:foregroundMark x1="73620" y1="69722" x2="73828" y2="70000"/>
                      </a14:backgroundRemoval>
                    </a14:imgEffect>
                  </a14:imgLayer>
                </a14:imgProps>
              </a:ext>
            </a:extLst>
          </a:blip>
          <a:srcRect l="72790" t="63549" r="25454" b="29500"/>
          <a:stretch/>
        </p:blipFill>
        <p:spPr>
          <a:xfrm>
            <a:off x="7758153" y="5493311"/>
            <a:ext cx="871728" cy="970789"/>
          </a:xfrm>
          <a:prstGeom prst="rect">
            <a:avLst/>
          </a:prstGeom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AF0878F-EAB8-4F09-801E-4D2522F5D300}"/>
              </a:ext>
            </a:extLst>
          </p:cNvPr>
          <p:cNvSpPr/>
          <p:nvPr/>
        </p:nvSpPr>
        <p:spPr>
          <a:xfrm>
            <a:off x="9448800" y="5217505"/>
            <a:ext cx="973908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연출 종료 후 빙고 칸 형태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32C2548-C44B-4B20-B931-FB64BE8AAECA}"/>
              </a:ext>
            </a:extLst>
          </p:cNvPr>
          <p:cNvSpPr/>
          <p:nvPr/>
        </p:nvSpPr>
        <p:spPr>
          <a:xfrm>
            <a:off x="9459621" y="550088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  <p:sp>
        <p:nvSpPr>
          <p:cNvPr id="46" name="화살표: 갈매기형 수장 45">
            <a:extLst>
              <a:ext uri="{FF2B5EF4-FFF2-40B4-BE49-F238E27FC236}">
                <a16:creationId xmlns:a16="http://schemas.microsoft.com/office/drawing/2014/main" id="{A5BA1BE4-BEDF-4549-AB03-864757FE1D53}"/>
              </a:ext>
            </a:extLst>
          </p:cNvPr>
          <p:cNvSpPr/>
          <p:nvPr/>
        </p:nvSpPr>
        <p:spPr>
          <a:xfrm>
            <a:off x="8824582" y="5805125"/>
            <a:ext cx="257175" cy="269069"/>
          </a:xfrm>
          <a:prstGeom prst="chevr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화살표: 갈매기형 수장 46">
            <a:extLst>
              <a:ext uri="{FF2B5EF4-FFF2-40B4-BE49-F238E27FC236}">
                <a16:creationId xmlns:a16="http://schemas.microsoft.com/office/drawing/2014/main" id="{C19130EE-CC87-440F-AF7E-15BDE1764A35}"/>
              </a:ext>
            </a:extLst>
          </p:cNvPr>
          <p:cNvSpPr/>
          <p:nvPr/>
        </p:nvSpPr>
        <p:spPr>
          <a:xfrm>
            <a:off x="9016187" y="5805125"/>
            <a:ext cx="257175" cy="269069"/>
          </a:xfrm>
          <a:prstGeom prst="chevr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4F36EF1-A04D-43EF-9979-E1BB35E38627}"/>
              </a:ext>
            </a:extLst>
          </p:cNvPr>
          <p:cNvSpPr/>
          <p:nvPr/>
        </p:nvSpPr>
        <p:spPr>
          <a:xfrm>
            <a:off x="9492511" y="5524673"/>
            <a:ext cx="885825" cy="88936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755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9CB4F7-2CA9-4E04-9538-0BAEE3BFC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919656"/>
              </p:ext>
            </p:extLst>
          </p:nvPr>
        </p:nvGraphicFramePr>
        <p:xfrm>
          <a:off x="244221" y="1192994"/>
          <a:ext cx="5640098" cy="4714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9.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더블 크레딧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9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Double Credit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정산 시 획득 크레딧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배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라운드가 정상적으로 종료된 후 정산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페이즈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(Phase)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에서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크레딧양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배 증가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연출 방식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(1) 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코인 두 배 적용되기 전 일반 정산 결과를 보여준 후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(2) 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코인 두 배 적용된 정산 결과를 보여줌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5F3554E-B8C1-4FC4-8BF6-6928815B0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821568"/>
              </p:ext>
            </p:extLst>
          </p:nvPr>
        </p:nvGraphicFramePr>
        <p:xfrm>
          <a:off x="6157263" y="1192994"/>
          <a:ext cx="5640098" cy="47143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10.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슈퍼 차지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Super Charge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사용 이후 라운드 종료시까지 스킬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게이즈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회로 풀 차지 가능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사용 이후 라운드 종료시까지 스킬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쿨타임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50% 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감소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직후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즉시 스킬 게이지 칸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 →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개로 변경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슈퍼 차지 사용 직후에만 스킬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쿨타임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초 적용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이후 사용하든 모든 스킬에는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쿨타임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50% 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효과 적용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예시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)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쿨타임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초 스킬 →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쿨타임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10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초로 변경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9FF1CC5-9928-44D8-B7DF-D5D0185A4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5200" y="1547406"/>
            <a:ext cx="3524296" cy="156474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F15F6CC-BBBC-4DF5-B113-F3704B4E51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21" y="1790605"/>
            <a:ext cx="5507579" cy="102558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1A72AB-3711-4B6C-A5B4-AA1D49FC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12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6EE4AB-DC21-4B2F-B49E-A86978E35533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18" name="Object 52">
              <a:extLst>
                <a:ext uri="{FF2B5EF4-FFF2-40B4-BE49-F238E27FC236}">
                  <a16:creationId xmlns:a16="http://schemas.microsoft.com/office/drawing/2014/main" id="{7D4532CA-7FA0-4271-8468-13D8ADEB6743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5.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상세 정보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2" name="Object 52">
              <a:extLst>
                <a:ext uri="{FF2B5EF4-FFF2-40B4-BE49-F238E27FC236}">
                  <a16:creationId xmlns:a16="http://schemas.microsoft.com/office/drawing/2014/main" id="{EE790A79-BCD7-44CE-A8C9-539E2A5D1105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699D1EF-9509-4C08-A8B7-ECD3136D6917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CC5A2B6-5DFC-439A-B4BA-0A3603B4714E}"/>
              </a:ext>
            </a:extLst>
          </p:cNvPr>
          <p:cNvSpPr/>
          <p:nvPr/>
        </p:nvSpPr>
        <p:spPr>
          <a:xfrm>
            <a:off x="327580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8980328-840F-401B-A211-1668D21CBACB}"/>
              </a:ext>
            </a:extLst>
          </p:cNvPr>
          <p:cNvSpPr/>
          <p:nvPr/>
        </p:nvSpPr>
        <p:spPr>
          <a:xfrm>
            <a:off x="3127111" y="1479799"/>
            <a:ext cx="1222766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 및 효과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013EA0D-8A66-48A9-8A5B-EFF25BF4AD41}"/>
              </a:ext>
            </a:extLst>
          </p:cNvPr>
          <p:cNvSpPr/>
          <p:nvPr/>
        </p:nvSpPr>
        <p:spPr>
          <a:xfrm>
            <a:off x="7565627" y="1500326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07C548C-5CEB-4316-B3F3-CDC7556872AD}"/>
              </a:ext>
            </a:extLst>
          </p:cNvPr>
          <p:cNvSpPr/>
          <p:nvPr/>
        </p:nvSpPr>
        <p:spPr>
          <a:xfrm>
            <a:off x="9681494" y="1500326"/>
            <a:ext cx="1158002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559DC5F-E053-45C0-AE81-7EF67D38E814}"/>
              </a:ext>
            </a:extLst>
          </p:cNvPr>
          <p:cNvSpPr/>
          <p:nvPr/>
        </p:nvSpPr>
        <p:spPr>
          <a:xfrm>
            <a:off x="9681494" y="2942317"/>
            <a:ext cx="1158002" cy="21691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게이지 </a:t>
            </a:r>
            <a:r>
              <a:rPr lang="en-US" altLang="ko-KR" sz="800" b="1" dirty="0"/>
              <a:t>3 </a:t>
            </a:r>
            <a:r>
              <a:rPr lang="ko-KR" altLang="en-US" sz="800" b="1" dirty="0"/>
              <a:t>→ </a:t>
            </a:r>
            <a:r>
              <a:rPr lang="en-US" altLang="ko-KR" sz="800" b="1" dirty="0"/>
              <a:t>2 </a:t>
            </a:r>
            <a:r>
              <a:rPr lang="ko-KR" altLang="en-US" sz="800" b="1" dirty="0"/>
              <a:t>변경</a:t>
            </a:r>
          </a:p>
        </p:txBody>
      </p:sp>
    </p:spTree>
    <p:extLst>
      <p:ext uri="{BB962C8B-B14F-4D97-AF65-F5344CB8AC3E}">
        <p14:creationId xmlns:p14="http://schemas.microsoft.com/office/powerpoint/2010/main" val="4109384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9CB4F7-2CA9-4E04-9538-0BAEE3BFC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026061"/>
              </p:ext>
            </p:extLst>
          </p:nvPr>
        </p:nvGraphicFramePr>
        <p:xfrm>
          <a:off x="244221" y="1192994"/>
          <a:ext cx="5640098" cy="52583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11.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스타 스퀘어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11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Star Square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카드당 스타 스퀘어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개씩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임의의 빙고 칸에 스퀘어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연출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시 다음 이미지가 빙고판에 나타남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투명한 별 모양 이미지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칸 숫자의 하위 레이어에 위치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457200" lvl="1" indent="0" algn="just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도브하면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정산 시 별 보상 추가 획득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일반 정산 프로세스에 포함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457200" lvl="1" indent="0" algn="just" latinLnBrk="1">
                        <a:buFont typeface="Arial" panose="020B0604020202020204" pitchFamily="34" charset="0"/>
                        <a:buNone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※</a:t>
                      </a:r>
                      <a:r>
                        <a:rPr lang="ko-KR" altLang="en-US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예외 사항</a:t>
                      </a:r>
                      <a:endParaRPr lang="en-US" altLang="ko-KR" sz="900" b="1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스퀘어 마크가 이미 새겨진 빙고 칸에는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마킹되지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마킹할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빙고 칸이 없으면 스타 스퀘어 스킬은 등장하지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5F3554E-B8C1-4FC4-8BF6-6928815B0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4029"/>
              </p:ext>
            </p:extLst>
          </p:nvPr>
        </p:nvGraphicFramePr>
        <p:xfrm>
          <a:off x="6157263" y="1192994"/>
          <a:ext cx="5640098" cy="52583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12.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와일드 </a:t>
                      </a:r>
                      <a:r>
                        <a:rPr lang="ko-KR" altLang="en-US" sz="900" b="1" dirty="0" err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도브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12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Wild Daub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원하는 위치의 빙고 칸에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성공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※</a:t>
                      </a:r>
                      <a:r>
                        <a:rPr lang="ko-KR" altLang="en-US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예외 사항</a:t>
                      </a:r>
                      <a:endParaRPr lang="en-US" altLang="ko-KR" sz="900" b="1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후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10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초 내 빙고 칸을 선택하지 않은 경우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임의의 빙고 칸에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성공 처리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)</a:t>
                      </a: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와일드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사용한 것으로 처리되며 스킬 게이지 쿨 타임 적용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와일드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사용 시 다음 빙고 칸은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도브할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수 없음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인스턴트 스퀘어 마킹이 되어있는 빙고 칸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9FF1CC5-9928-44D8-B7DF-D5D0185A4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7263" y="1626316"/>
            <a:ext cx="5452130" cy="143215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F15F6CC-BBBC-4DF5-B113-F3704B4E51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584" y="1654317"/>
            <a:ext cx="5298813" cy="147297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B3C0115-E42D-4E37-9B3C-4071748DEE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505" y="4086677"/>
            <a:ext cx="1646068" cy="168642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E58F6F-DD8E-445A-AD0B-0D9C82BE9318}"/>
              </a:ext>
            </a:extLst>
          </p:cNvPr>
          <p:cNvSpPr/>
          <p:nvPr/>
        </p:nvSpPr>
        <p:spPr>
          <a:xfrm>
            <a:off x="6838950" y="5168477"/>
            <a:ext cx="2143125" cy="16192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EE3FA06-EB3B-4260-8192-41B0C228A5A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982075" y="5249440"/>
            <a:ext cx="1033332" cy="47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2596D5-6022-4D1E-93AB-873CBEE6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13</a:t>
            </a:fld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28557EE-535A-4C81-BD9F-9207E80EC715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23" name="Object 52">
              <a:extLst>
                <a:ext uri="{FF2B5EF4-FFF2-40B4-BE49-F238E27FC236}">
                  <a16:creationId xmlns:a16="http://schemas.microsoft.com/office/drawing/2014/main" id="{626A1E9E-7B1F-4547-A1A6-3E079AC67032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5.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상세 정보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5" name="Object 52">
              <a:extLst>
                <a:ext uri="{FF2B5EF4-FFF2-40B4-BE49-F238E27FC236}">
                  <a16:creationId xmlns:a16="http://schemas.microsoft.com/office/drawing/2014/main" id="{4038F193-5B09-43FA-8D6C-1F70B091A08F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8351DCC-B191-4B62-8CE0-921E49279215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6C03B6F-5F52-4171-9466-BFB43E4B4301}"/>
              </a:ext>
            </a:extLst>
          </p:cNvPr>
          <p:cNvSpPr/>
          <p:nvPr/>
        </p:nvSpPr>
        <p:spPr>
          <a:xfrm>
            <a:off x="599544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2943B84-7059-41F4-AB5C-D68D48888263}"/>
              </a:ext>
            </a:extLst>
          </p:cNvPr>
          <p:cNvSpPr/>
          <p:nvPr/>
        </p:nvSpPr>
        <p:spPr>
          <a:xfrm>
            <a:off x="2482344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F5250EE-C17F-43CD-9C6C-AC34E5C591C1}"/>
              </a:ext>
            </a:extLst>
          </p:cNvPr>
          <p:cNvSpPr/>
          <p:nvPr/>
        </p:nvSpPr>
        <p:spPr>
          <a:xfrm>
            <a:off x="4558602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AFF1A17-822B-4378-9740-C7C17151E1E0}"/>
              </a:ext>
            </a:extLst>
          </p:cNvPr>
          <p:cNvSpPr/>
          <p:nvPr/>
        </p:nvSpPr>
        <p:spPr>
          <a:xfrm>
            <a:off x="6634860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46D1A6A-C70A-47BC-8D50-36A8C987DABF}"/>
              </a:ext>
            </a:extLst>
          </p:cNvPr>
          <p:cNvSpPr/>
          <p:nvPr/>
        </p:nvSpPr>
        <p:spPr>
          <a:xfrm>
            <a:off x="8554470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BB99268-4FD4-4C0B-AA3A-7EDCBAE94D7B}"/>
              </a:ext>
            </a:extLst>
          </p:cNvPr>
          <p:cNvSpPr/>
          <p:nvPr/>
        </p:nvSpPr>
        <p:spPr>
          <a:xfrm>
            <a:off x="10578274" y="1479799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47BAB05-7EE8-4B0D-9B35-B07EC55B4426}"/>
              </a:ext>
            </a:extLst>
          </p:cNvPr>
          <p:cNvSpPr/>
          <p:nvPr/>
        </p:nvSpPr>
        <p:spPr>
          <a:xfrm>
            <a:off x="4646940" y="4429125"/>
            <a:ext cx="973908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스퀘어 </a:t>
            </a:r>
            <a:r>
              <a:rPr lang="ko-KR" altLang="en-US" sz="900" b="1" dirty="0" err="1"/>
              <a:t>마킹된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빙고 칸 형태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91066B-65FC-4795-9B58-404842C29A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619" y="4766266"/>
            <a:ext cx="862623" cy="868224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8BF35E-85A0-4048-A7DA-16D5FE4AF479}"/>
              </a:ext>
            </a:extLst>
          </p:cNvPr>
          <p:cNvSpPr/>
          <p:nvPr/>
        </p:nvSpPr>
        <p:spPr>
          <a:xfrm>
            <a:off x="4657761" y="471250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451486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9CB4F7-2CA9-4E04-9538-0BAEE3BFC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098820"/>
              </p:ext>
            </p:extLst>
          </p:nvPr>
        </p:nvGraphicFramePr>
        <p:xfrm>
          <a:off x="244221" y="1192994"/>
          <a:ext cx="5640098" cy="5532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13. </a:t>
                      </a:r>
                      <a:r>
                        <a:rPr lang="ko-KR" altLang="en-US" sz="900" b="1" dirty="0" err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트리플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  <a:r>
                        <a:rPr lang="ko-KR" altLang="en-US" sz="900" b="1" dirty="0" err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도브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1999704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13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Triple Daub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게이지가 풀 충전됐을 때 스킬 아이콘을 눌러 발동할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카드당 랜덤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볼에 등장하는 숫자와 관계 없이 임의의 빙고 칸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개에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성공 시킴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연출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marR="0" lvl="1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시 임의의 빙고 칸 중앙에서 노란 빛이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터져나옴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marR="0" lvl="1" indent="-1714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빛이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터져나오는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연출 종료 후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카드에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가능한 스퀘어가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 이상 남아있는 경우 등장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5F3554E-B8C1-4FC4-8BF6-6928815B0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41465"/>
              </p:ext>
            </p:extLst>
          </p:nvPr>
        </p:nvGraphicFramePr>
        <p:xfrm>
          <a:off x="6157263" y="1192994"/>
          <a:ext cx="5640098" cy="55579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1726">
                  <a:extLst>
                    <a:ext uri="{9D8B030D-6E8A-4147-A177-3AD203B41FA5}">
                      <a16:colId xmlns:a16="http://schemas.microsoft.com/office/drawing/2014/main" val="834656012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920658308"/>
                    </a:ext>
                  </a:extLst>
                </a:gridCol>
                <a:gridCol w="1411726">
                  <a:extLst>
                    <a:ext uri="{9D8B030D-6E8A-4147-A177-3AD203B41FA5}">
                      <a16:colId xmlns:a16="http://schemas.microsoft.com/office/drawing/2014/main" val="2252661701"/>
                    </a:ext>
                  </a:extLst>
                </a:gridCol>
                <a:gridCol w="1404920">
                  <a:extLst>
                    <a:ext uri="{9D8B030D-6E8A-4147-A177-3AD203B41FA5}">
                      <a16:colId xmlns:a16="http://schemas.microsoft.com/office/drawing/2014/main" val="1705023167"/>
                    </a:ext>
                  </a:extLst>
                </a:gridCol>
              </a:tblGrid>
              <a:tr h="209078">
                <a:tc gridSpan="4"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14. 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인스턴트 </a:t>
                      </a:r>
                      <a:r>
                        <a:rPr lang="ko-KR" altLang="en-US" sz="900" b="1" dirty="0" err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도브</a:t>
                      </a:r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 </a:t>
                      </a: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3615"/>
                  </a:ext>
                </a:extLst>
              </a:tr>
              <a:tr h="2436503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8454065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 IDX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12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SKILL_NAME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Instant Daub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038861119"/>
                  </a:ext>
                </a:extLst>
              </a:tr>
              <a:tr h="20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SKILL_COOLTIME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20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SKILL_USE_PER_ROUND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0" algn="ctr" rtl="0" fontAlgn="b">
                        <a:buFont typeface="Arial" panose="020B0604020202020204" pitchFamily="34" charset="0"/>
                        <a:buNone/>
                      </a:pPr>
                      <a:r>
                        <a:rPr lang="en-US" altLang="ko-KR" sz="7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232450597"/>
                  </a:ext>
                </a:extLst>
              </a:tr>
              <a:tr h="20880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SKILL_DESC</a:t>
                      </a:r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8601586"/>
                  </a:ext>
                </a:extLst>
              </a:tr>
              <a:tr h="1879200">
                <a:tc gridSpan="4">
                  <a:txBody>
                    <a:bodyPr/>
                    <a:lstStyle/>
                    <a:p>
                      <a:pPr marL="17145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카드당 인스턴트 스퀘어 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개씩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임의의 빙고 칸에 스퀘어 마킹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도브하면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해당 인스턴트 스퀘어가 속한 빙고 카드는 즉시 빙고 처리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연출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스킬 사용 시 다음 이미지가 빙고판에 나타남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무지개색 별 모양 이미지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빙고 칸 숫자의 하위 레이어에 위치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0" lvl="0" indent="0" algn="just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※</a:t>
                      </a:r>
                      <a:r>
                        <a:rPr lang="ko-KR" altLang="en-US" sz="900" b="1" dirty="0">
                          <a:solidFill>
                            <a:schemeClr val="accent2"/>
                          </a:solidFill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예외 사항</a:t>
                      </a:r>
                      <a:endParaRPr lang="en-US" altLang="ko-KR" sz="900" b="1" dirty="0">
                        <a:solidFill>
                          <a:schemeClr val="accent2"/>
                        </a:solidFill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스퀘어 마크가 이미 새겨진 빙고 칸에는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마킹되지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마킹할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빙고 칸이 없으면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인스탄트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스킬은 등장하지 않음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와일드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사용 시 인스턴트 스퀘어가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세겨진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빙고 칸은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도브할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수 없음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171450" lvl="0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싱글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더블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</a:t>
                      </a:r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트리플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도브는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인스턴트 스퀘어가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세겨진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빙고 칸을 </a:t>
                      </a:r>
                      <a:r>
                        <a:rPr lang="ko-KR" altLang="en-US" sz="900" b="0" dirty="0" err="1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도브할</a:t>
                      </a: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 수 있음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  <a:p>
                      <a:pPr marL="628650" lvl="1" indent="-171450" algn="just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즉시 빙고 처리</a:t>
                      </a:r>
                      <a:endParaRPr lang="en-US" altLang="ko-KR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108000" indent="-72000" algn="l" rtl="0" fontAlgn="b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483210835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9FF1CC5-9928-44D8-B7DF-D5D0185A4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7227" y="1672511"/>
            <a:ext cx="3920170" cy="205682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F15F6CC-BBBC-4DF5-B113-F3704B4E51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35" y="1672511"/>
            <a:ext cx="5703089" cy="169112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70B9A-F41B-461F-B913-8896AD7A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14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A2964D5-FF81-4799-8DD6-374175C5EDA6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18" name="Object 52">
              <a:extLst>
                <a:ext uri="{FF2B5EF4-FFF2-40B4-BE49-F238E27FC236}">
                  <a16:creationId xmlns:a16="http://schemas.microsoft.com/office/drawing/2014/main" id="{41B1AD18-DB24-48C7-9E3E-F6616998E10D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5.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상세 정보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19" name="Object 52">
              <a:extLst>
                <a:ext uri="{FF2B5EF4-FFF2-40B4-BE49-F238E27FC236}">
                  <a16:creationId xmlns:a16="http://schemas.microsoft.com/office/drawing/2014/main" id="{FAA8D483-128D-4624-9E69-8FE54E3F62E2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8E35596-CBB9-458A-8E2A-ED479A2C2208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E264077-227A-473A-8731-96AC7BF0E95A}"/>
              </a:ext>
            </a:extLst>
          </p:cNvPr>
          <p:cNvSpPr/>
          <p:nvPr/>
        </p:nvSpPr>
        <p:spPr>
          <a:xfrm>
            <a:off x="633291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A48182-DDAB-426F-A95F-E7E7E9F84DB4}"/>
              </a:ext>
            </a:extLst>
          </p:cNvPr>
          <p:cNvSpPr/>
          <p:nvPr/>
        </p:nvSpPr>
        <p:spPr>
          <a:xfrm>
            <a:off x="2516091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949097F-E573-4384-9E55-39EA050A8035}"/>
              </a:ext>
            </a:extLst>
          </p:cNvPr>
          <p:cNvSpPr/>
          <p:nvPr/>
        </p:nvSpPr>
        <p:spPr>
          <a:xfrm>
            <a:off x="4592349" y="148264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D938F09-93A4-4FAF-94B5-E764FA943CA1}"/>
              </a:ext>
            </a:extLst>
          </p:cNvPr>
          <p:cNvSpPr/>
          <p:nvPr/>
        </p:nvSpPr>
        <p:spPr>
          <a:xfrm>
            <a:off x="7198858" y="1492819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사용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3D0A3E2-B067-4F9B-8EDE-8E4295DB9A53}"/>
              </a:ext>
            </a:extLst>
          </p:cNvPr>
          <p:cNvSpPr/>
          <p:nvPr/>
        </p:nvSpPr>
        <p:spPr>
          <a:xfrm>
            <a:off x="9184723" y="1492819"/>
            <a:ext cx="1349927" cy="199228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CC77318-60D4-4133-AFF6-83D9A2B6D999}"/>
              </a:ext>
            </a:extLst>
          </p:cNvPr>
          <p:cNvSpPr/>
          <p:nvPr/>
        </p:nvSpPr>
        <p:spPr>
          <a:xfrm>
            <a:off x="8554621" y="2784724"/>
            <a:ext cx="944271" cy="21691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효과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66C96A6-DECF-46C3-BF6A-8D13DF02E342}"/>
              </a:ext>
            </a:extLst>
          </p:cNvPr>
          <p:cNvSpPr/>
          <p:nvPr/>
        </p:nvSpPr>
        <p:spPr>
          <a:xfrm>
            <a:off x="2443163" y="3152775"/>
            <a:ext cx="661988" cy="187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1542F29-E23C-4B5F-973B-0AB0D3484456}"/>
              </a:ext>
            </a:extLst>
          </p:cNvPr>
          <p:cNvSpPr/>
          <p:nvPr/>
        </p:nvSpPr>
        <p:spPr>
          <a:xfrm>
            <a:off x="1678122" y="5231675"/>
            <a:ext cx="968701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스킬 연출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빙고 칸 형태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76AAE31-6582-4971-AE6A-F0D1DD72513D}"/>
              </a:ext>
            </a:extLst>
          </p:cNvPr>
          <p:cNvSpPr/>
          <p:nvPr/>
        </p:nvSpPr>
        <p:spPr>
          <a:xfrm>
            <a:off x="1688943" y="551505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2FB4776-4D4A-4956-BC4B-3BDA1744DDD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64074" b="70000" l="72839" r="74375">
                        <a14:foregroundMark x1="73203" y1="65000" x2="72943" y2="67593"/>
                        <a14:foregroundMark x1="72943" y1="67593" x2="73490" y2="69722"/>
                        <a14:foregroundMark x1="73490" y1="69722" x2="74219" y2="68796"/>
                        <a14:foregroundMark x1="74219" y1="68796" x2="74375" y2="65741"/>
                        <a14:foregroundMark x1="74375" y1="65741" x2="73698" y2="64167"/>
                        <a14:foregroundMark x1="73698" y1="64167" x2="73177" y2="65000"/>
                        <a14:foregroundMark x1="72839" y1="66481" x2="72865" y2="67685"/>
                        <a14:foregroundMark x1="73568" y1="69722" x2="73932" y2="69444"/>
                        <a14:foregroundMark x1="73906" y1="69352" x2="74036" y2="68981"/>
                        <a14:foregroundMark x1="74010" y1="69815" x2="73854" y2="70000"/>
                        <a14:foregroundMark x1="73594" y1="64259" x2="73542" y2="64259"/>
                        <a14:foregroundMark x1="73776" y1="64074" x2="73698" y2="64167"/>
                        <a14:foregroundMark x1="73229" y1="64630" x2="73229" y2="64630"/>
                        <a14:foregroundMark x1="73620" y1="69722" x2="73828" y2="70000"/>
                      </a14:backgroundRemoval>
                    </a14:imgEffect>
                  </a14:imgLayer>
                </a14:imgProps>
              </a:ext>
            </a:extLst>
          </a:blip>
          <a:srcRect l="72790" t="63549" r="25454" b="29500"/>
          <a:stretch/>
        </p:blipFill>
        <p:spPr>
          <a:xfrm>
            <a:off x="1769715" y="5493311"/>
            <a:ext cx="871728" cy="970789"/>
          </a:xfrm>
          <a:prstGeom prst="rect">
            <a:avLst/>
          </a:prstGeom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3E437DD-8954-4615-BEA7-7AA145E80161}"/>
              </a:ext>
            </a:extLst>
          </p:cNvPr>
          <p:cNvSpPr/>
          <p:nvPr/>
        </p:nvSpPr>
        <p:spPr>
          <a:xfrm>
            <a:off x="3460362" y="5217505"/>
            <a:ext cx="973908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연출 종료 후 빙고 칸 형태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26E9A18-68E4-4BD8-8C23-B7A2EE140C55}"/>
              </a:ext>
            </a:extLst>
          </p:cNvPr>
          <p:cNvSpPr/>
          <p:nvPr/>
        </p:nvSpPr>
        <p:spPr>
          <a:xfrm>
            <a:off x="3471183" y="550088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  <p:sp>
        <p:nvSpPr>
          <p:cNvPr id="32" name="화살표: 갈매기형 수장 31">
            <a:extLst>
              <a:ext uri="{FF2B5EF4-FFF2-40B4-BE49-F238E27FC236}">
                <a16:creationId xmlns:a16="http://schemas.microsoft.com/office/drawing/2014/main" id="{5C96E544-AF35-41D2-A08D-1ACA49C7DA4B}"/>
              </a:ext>
            </a:extLst>
          </p:cNvPr>
          <p:cNvSpPr/>
          <p:nvPr/>
        </p:nvSpPr>
        <p:spPr>
          <a:xfrm>
            <a:off x="2836144" y="5805125"/>
            <a:ext cx="257175" cy="269069"/>
          </a:xfrm>
          <a:prstGeom prst="chevr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화살표: 갈매기형 수장 32">
            <a:extLst>
              <a:ext uri="{FF2B5EF4-FFF2-40B4-BE49-F238E27FC236}">
                <a16:creationId xmlns:a16="http://schemas.microsoft.com/office/drawing/2014/main" id="{A3A33C0E-6278-4FD9-9C81-109381D77EEA}"/>
              </a:ext>
            </a:extLst>
          </p:cNvPr>
          <p:cNvSpPr/>
          <p:nvPr/>
        </p:nvSpPr>
        <p:spPr>
          <a:xfrm>
            <a:off x="3027749" y="5805125"/>
            <a:ext cx="257175" cy="269069"/>
          </a:xfrm>
          <a:prstGeom prst="chevr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5F50AC6-CBE7-46A8-AF2A-BA3139BE26C5}"/>
              </a:ext>
            </a:extLst>
          </p:cNvPr>
          <p:cNvSpPr/>
          <p:nvPr/>
        </p:nvSpPr>
        <p:spPr>
          <a:xfrm>
            <a:off x="3504073" y="5524673"/>
            <a:ext cx="885825" cy="88936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92DEA47-9794-48E2-A002-617BA2DDA4B8}"/>
              </a:ext>
            </a:extLst>
          </p:cNvPr>
          <p:cNvSpPr/>
          <p:nvPr/>
        </p:nvSpPr>
        <p:spPr>
          <a:xfrm>
            <a:off x="10578274" y="4802725"/>
            <a:ext cx="973908" cy="29755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스퀘어 </a:t>
            </a:r>
            <a:r>
              <a:rPr lang="ko-KR" altLang="en-US" sz="900" b="1" dirty="0" err="1"/>
              <a:t>마킹된</a:t>
            </a:r>
            <a:endParaRPr lang="en-US" altLang="ko-KR" sz="900" b="1" dirty="0"/>
          </a:p>
          <a:p>
            <a:pPr algn="ctr"/>
            <a:r>
              <a:rPr lang="ko-KR" altLang="en-US" sz="900" b="1" dirty="0"/>
              <a:t>빙고 칸 형태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DDDAEF03-CF9C-4EF8-B919-1EAD8EB641B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backgroundMark x1="37673" y1="23823" x2="18560" y2="50139"/>
                        <a14:backgroundMark x1="18560" y1="50139" x2="24100" y2="63158"/>
                        <a14:backgroundMark x1="24100" y1="63158" x2="40166" y2="79224"/>
                        <a14:backgroundMark x1="40166" y1="79224" x2="50970" y2="81994"/>
                        <a14:backgroundMark x1="50970" y1="81994" x2="58449" y2="75346"/>
                        <a14:backgroundMark x1="58449" y1="75346" x2="69252" y2="72576"/>
                        <a14:backgroundMark x1="69252" y1="72576" x2="76731" y2="63158"/>
                        <a14:backgroundMark x1="76731" y1="63158" x2="78393" y2="52909"/>
                        <a14:backgroundMark x1="78393" y1="52909" x2="68698" y2="31302"/>
                        <a14:backgroundMark x1="68698" y1="31302" x2="58726" y2="31025"/>
                        <a14:backgroundMark x1="58726" y1="31025" x2="36565" y2="23823"/>
                        <a14:backgroundMark x1="36565" y1="23823" x2="32964" y2="26870"/>
                        <a14:backgroundMark x1="32964" y1="21607" x2="68698" y2="16343"/>
                        <a14:backgroundMark x1="57064" y1="17175" x2="80332" y2="29917"/>
                        <a14:backgroundMark x1="80332" y1="29917" x2="81163" y2="31025"/>
                        <a14:backgroundMark x1="70083" y1="15235" x2="3047" y2="24654"/>
                        <a14:backgroundMark x1="3047" y1="24654" x2="3047" y2="24654"/>
                        <a14:backgroundMark x1="32964" y1="36565" x2="34903" y2="26593"/>
                        <a14:backgroundMark x1="36842" y1="30194" x2="43213" y2="23269"/>
                        <a14:backgroundMark x1="38227" y1="29640" x2="44321" y2="23823"/>
                        <a14:backgroundMark x1="39058" y1="29640" x2="39889" y2="29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018" t="26896" r="25016" b="25427"/>
          <a:stretch/>
        </p:blipFill>
        <p:spPr>
          <a:xfrm>
            <a:off x="10601325" y="5150512"/>
            <a:ext cx="873478" cy="833458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92878F68-C107-4AEE-9018-71449157E744}"/>
              </a:ext>
            </a:extLst>
          </p:cNvPr>
          <p:cNvSpPr/>
          <p:nvPr/>
        </p:nvSpPr>
        <p:spPr>
          <a:xfrm>
            <a:off x="10588978" y="5086106"/>
            <a:ext cx="952500" cy="952500"/>
          </a:xfrm>
          <a:prstGeom prst="rect">
            <a:avLst/>
          </a:prstGeom>
          <a:noFill/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47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878491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24811E04-C897-46FB-8E60-D82C366EA0A7}"/>
              </a:ext>
            </a:extLst>
          </p:cNvPr>
          <p:cNvSpPr/>
          <p:nvPr/>
        </p:nvSpPr>
        <p:spPr>
          <a:xfrm>
            <a:off x="811472" y="1156049"/>
            <a:ext cx="10487949" cy="42351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DD6B0AC-A3F4-4ED9-9E44-18062F376F06}"/>
              </a:ext>
            </a:extLst>
          </p:cNvPr>
          <p:cNvSpPr/>
          <p:nvPr/>
        </p:nvSpPr>
        <p:spPr>
          <a:xfrm>
            <a:off x="820998" y="4629907"/>
            <a:ext cx="10478423" cy="761319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갈매기형 수장 30">
            <a:extLst>
              <a:ext uri="{FF2B5EF4-FFF2-40B4-BE49-F238E27FC236}">
                <a16:creationId xmlns:a16="http://schemas.microsoft.com/office/drawing/2014/main" id="{C732A838-9AEC-4B58-B482-D45ECC7FD352}"/>
              </a:ext>
            </a:extLst>
          </p:cNvPr>
          <p:cNvSpPr/>
          <p:nvPr/>
        </p:nvSpPr>
        <p:spPr>
          <a:xfrm>
            <a:off x="892579" y="4773343"/>
            <a:ext cx="258618" cy="475150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화살표: 갈매기형 수장 31">
            <a:extLst>
              <a:ext uri="{FF2B5EF4-FFF2-40B4-BE49-F238E27FC236}">
                <a16:creationId xmlns:a16="http://schemas.microsoft.com/office/drawing/2014/main" id="{4C489B47-118B-48B2-B667-9916F2364AA9}"/>
              </a:ext>
            </a:extLst>
          </p:cNvPr>
          <p:cNvSpPr/>
          <p:nvPr/>
        </p:nvSpPr>
        <p:spPr>
          <a:xfrm>
            <a:off x="1093469" y="4773343"/>
            <a:ext cx="258618" cy="475150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244830-36DD-4EF4-9F7E-6E462AA9F80F}"/>
              </a:ext>
            </a:extLst>
          </p:cNvPr>
          <p:cNvSpPr txBox="1"/>
          <p:nvPr/>
        </p:nvSpPr>
        <p:spPr>
          <a:xfrm>
            <a:off x="883054" y="1287317"/>
            <a:ext cx="490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빙고 </a:t>
            </a:r>
            <a:r>
              <a:rPr lang="ko-KR" altLang="en-US" b="1" dirty="0" err="1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헤이븐</a:t>
            </a:r>
            <a:r>
              <a:rPr lang="en-US" altLang="ko-KR" b="1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세트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AB2F7F-C72F-4390-9AA7-C78F96AC09B8}"/>
              </a:ext>
            </a:extLst>
          </p:cNvPr>
          <p:cNvSpPr txBox="1"/>
          <p:nvPr/>
        </p:nvSpPr>
        <p:spPr>
          <a:xfrm>
            <a:off x="5902431" y="1764860"/>
            <a:ext cx="526768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가디언 스킬 세트는 여섯 개의 스킬로 구성되어 있음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가디언은 상이한 스킬 세트를 지님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가디언 최초 획득 시점부터 모든 스킬을 사용할 수 있음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모든 가디언은 다음 등급의 스킬을 지니고 있음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Common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등급 스킬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Uncommon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등급 스킬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2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Rare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등급 스킬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Epic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등급 스킬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개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pic>
        <p:nvPicPr>
          <p:cNvPr id="218" name="그림 217">
            <a:extLst>
              <a:ext uri="{FF2B5EF4-FFF2-40B4-BE49-F238E27FC236}">
                <a16:creationId xmlns:a16="http://schemas.microsoft.com/office/drawing/2014/main" id="{BDBF00A6-16F9-4E7A-8583-1AFD9117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88" y="1775745"/>
            <a:ext cx="2253150" cy="2666772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219" name="그림 218">
            <a:extLst>
              <a:ext uri="{FF2B5EF4-FFF2-40B4-BE49-F238E27FC236}">
                <a16:creationId xmlns:a16="http://schemas.microsoft.com/office/drawing/2014/main" id="{98053EBF-4081-4677-B01F-BD1346A98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454" y="1764860"/>
            <a:ext cx="2253150" cy="267765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4CC4F11-8BEE-451D-AE2A-019EA3C83F17}"/>
              </a:ext>
            </a:extLst>
          </p:cNvPr>
          <p:cNvSpPr/>
          <p:nvPr/>
        </p:nvSpPr>
        <p:spPr>
          <a:xfrm>
            <a:off x="1123951" y="3843694"/>
            <a:ext cx="2057400" cy="5143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사각형: 둥근 모서리 219">
            <a:extLst>
              <a:ext uri="{FF2B5EF4-FFF2-40B4-BE49-F238E27FC236}">
                <a16:creationId xmlns:a16="http://schemas.microsoft.com/office/drawing/2014/main" id="{8ED4BBEE-07A5-4C49-BB0E-BECBA854A07B}"/>
              </a:ext>
            </a:extLst>
          </p:cNvPr>
          <p:cNvSpPr/>
          <p:nvPr/>
        </p:nvSpPr>
        <p:spPr>
          <a:xfrm>
            <a:off x="3583329" y="3843694"/>
            <a:ext cx="2057400" cy="5143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33851CF-8F72-4614-BF9D-6000B6579BDE}"/>
              </a:ext>
            </a:extLst>
          </p:cNvPr>
          <p:cNvSpPr/>
          <p:nvPr/>
        </p:nvSpPr>
        <p:spPr>
          <a:xfrm>
            <a:off x="1270403" y="3604911"/>
            <a:ext cx="1796647" cy="240035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Guardian A </a:t>
            </a:r>
            <a:r>
              <a:rPr lang="ko-KR" altLang="en-US" sz="105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스킬 세트</a:t>
            </a:r>
          </a:p>
        </p:txBody>
      </p:sp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C8C39F31-1D1B-4BB9-94A5-BFE550D30800}"/>
              </a:ext>
            </a:extLst>
          </p:cNvPr>
          <p:cNvSpPr/>
          <p:nvPr/>
        </p:nvSpPr>
        <p:spPr>
          <a:xfrm>
            <a:off x="3708803" y="3604911"/>
            <a:ext cx="1796647" cy="240035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Guardian B </a:t>
            </a:r>
            <a:r>
              <a:rPr lang="ko-KR" altLang="en-US" sz="105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스킬 세트</a:t>
            </a:r>
          </a:p>
        </p:txBody>
      </p:sp>
      <p:graphicFrame>
        <p:nvGraphicFramePr>
          <p:cNvPr id="222" name="표 221">
            <a:extLst>
              <a:ext uri="{FF2B5EF4-FFF2-40B4-BE49-F238E27FC236}">
                <a16:creationId xmlns:a16="http://schemas.microsoft.com/office/drawing/2014/main" id="{173EEA13-29BE-4C86-A270-1831F6C9D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936699"/>
              </p:ext>
            </p:extLst>
          </p:nvPr>
        </p:nvGraphicFramePr>
        <p:xfrm>
          <a:off x="1625863" y="4796858"/>
          <a:ext cx="7351449" cy="4244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207">
                  <a:extLst>
                    <a:ext uri="{9D8B030D-6E8A-4147-A177-3AD203B41FA5}">
                      <a16:colId xmlns:a16="http://schemas.microsoft.com/office/drawing/2014/main" val="824235747"/>
                    </a:ext>
                  </a:extLst>
                </a:gridCol>
                <a:gridCol w="1050207">
                  <a:extLst>
                    <a:ext uri="{9D8B030D-6E8A-4147-A177-3AD203B41FA5}">
                      <a16:colId xmlns:a16="http://schemas.microsoft.com/office/drawing/2014/main" val="1857400902"/>
                    </a:ext>
                  </a:extLst>
                </a:gridCol>
                <a:gridCol w="1050207">
                  <a:extLst>
                    <a:ext uri="{9D8B030D-6E8A-4147-A177-3AD203B41FA5}">
                      <a16:colId xmlns:a16="http://schemas.microsoft.com/office/drawing/2014/main" val="208520363"/>
                    </a:ext>
                  </a:extLst>
                </a:gridCol>
                <a:gridCol w="1050207">
                  <a:extLst>
                    <a:ext uri="{9D8B030D-6E8A-4147-A177-3AD203B41FA5}">
                      <a16:colId xmlns:a16="http://schemas.microsoft.com/office/drawing/2014/main" val="1016980221"/>
                    </a:ext>
                  </a:extLst>
                </a:gridCol>
                <a:gridCol w="1050207">
                  <a:extLst>
                    <a:ext uri="{9D8B030D-6E8A-4147-A177-3AD203B41FA5}">
                      <a16:colId xmlns:a16="http://schemas.microsoft.com/office/drawing/2014/main" val="3100408315"/>
                    </a:ext>
                  </a:extLst>
                </a:gridCol>
                <a:gridCol w="1050207">
                  <a:extLst>
                    <a:ext uri="{9D8B030D-6E8A-4147-A177-3AD203B41FA5}">
                      <a16:colId xmlns:a16="http://schemas.microsoft.com/office/drawing/2014/main" val="2872993770"/>
                    </a:ext>
                  </a:extLst>
                </a:gridCol>
                <a:gridCol w="1050207">
                  <a:extLst>
                    <a:ext uri="{9D8B030D-6E8A-4147-A177-3AD203B41FA5}">
                      <a16:colId xmlns:a16="http://schemas.microsoft.com/office/drawing/2014/main" val="388663094"/>
                    </a:ext>
                  </a:extLst>
                </a:gridCol>
              </a:tblGrid>
              <a:tr h="17263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가디언 이름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2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3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4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5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6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103856"/>
                  </a:ext>
                </a:extLst>
              </a:tr>
              <a:tr h="249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모든 가디언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Common</a:t>
                      </a:r>
                      <a:endParaRPr lang="ko-KR" altLang="en-US" sz="900" b="0" dirty="0"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Common</a:t>
                      </a:r>
                    </a:p>
                  </a:txBody>
                  <a:tcPr marL="28575" marR="28575" marT="19050" marB="190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Uncommon</a:t>
                      </a:r>
                    </a:p>
                  </a:txBody>
                  <a:tcPr marL="28575" marR="28575" marT="19050" marB="1905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Uncommon</a:t>
                      </a:r>
                    </a:p>
                  </a:txBody>
                  <a:tcPr marL="28575" marR="28575" marT="19050" marB="1905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  <a:cs typeface="Calibri" panose="020F0502020204030204" pitchFamily="34" charset="0"/>
                        </a:rPr>
                        <a:t>Rare</a:t>
                      </a:r>
                    </a:p>
                  </a:txBody>
                  <a:tcPr marL="28575" marR="28575" marT="19050" marB="190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Epic</a:t>
                      </a:r>
                      <a:endParaRPr lang="ko-KR" altLang="en-US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rgbClr val="B07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91812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0E51C94-BD92-49EF-A25B-991329A0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15</a:t>
            </a:fld>
            <a:endParaRPr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14779FE-319A-4E04-839F-2CDCEF38AC97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22" name="Object 52">
              <a:extLst>
                <a:ext uri="{FF2B5EF4-FFF2-40B4-BE49-F238E27FC236}">
                  <a16:creationId xmlns:a16="http://schemas.microsoft.com/office/drawing/2014/main" id="{4FB34A68-390A-4B7C-94DB-835408A3FE67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6.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세트 개요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6" name="Object 52">
              <a:extLst>
                <a:ext uri="{FF2B5EF4-FFF2-40B4-BE49-F238E27FC236}">
                  <a16:creationId xmlns:a16="http://schemas.microsoft.com/office/drawing/2014/main" id="{3F863837-7389-41DD-A0B7-DE15B3493023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F42EF86-2539-481D-9D24-7004AC193866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4849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E49593-C991-4229-A64E-F9B4A8761B78}"/>
              </a:ext>
            </a:extLst>
          </p:cNvPr>
          <p:cNvSpPr txBox="1"/>
          <p:nvPr/>
        </p:nvSpPr>
        <p:spPr>
          <a:xfrm>
            <a:off x="2175069" y="1038084"/>
            <a:ext cx="784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각 스킬에 가중치를 설정하고 각 가디언의 스킬 세트 구성 진행</a:t>
            </a:r>
            <a:endParaRPr lang="en-US" altLang="ko-KR" sz="1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aphicFrame>
        <p:nvGraphicFramePr>
          <p:cNvPr id="22" name="표 23">
            <a:extLst>
              <a:ext uri="{FF2B5EF4-FFF2-40B4-BE49-F238E27FC236}">
                <a16:creationId xmlns:a16="http://schemas.microsoft.com/office/drawing/2014/main" id="{341A3352-BDA7-4BFD-8020-708DC807B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960042"/>
              </p:ext>
            </p:extLst>
          </p:nvPr>
        </p:nvGraphicFramePr>
        <p:xfrm>
          <a:off x="314733" y="1668540"/>
          <a:ext cx="5781268" cy="3275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867">
                  <a:extLst>
                    <a:ext uri="{9D8B030D-6E8A-4147-A177-3AD203B41FA5}">
                      <a16:colId xmlns:a16="http://schemas.microsoft.com/office/drawing/2014/main" val="50652248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122008218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394365882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3078111668"/>
                    </a:ext>
                  </a:extLst>
                </a:gridCol>
                <a:gridCol w="1247776">
                  <a:extLst>
                    <a:ext uri="{9D8B030D-6E8A-4147-A177-3AD203B41FA5}">
                      <a16:colId xmlns:a16="http://schemas.microsoft.com/office/drawing/2014/main" val="651906521"/>
                    </a:ext>
                  </a:extLst>
                </a:gridCol>
              </a:tblGrid>
              <a:tr h="14856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SKILL_IDX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SKILL_RARITY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SKILL_NAME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SKILL_USE_ROUND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가중치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809428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Credit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67225615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Coin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24091003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Gem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653877518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Treasure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33721079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5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Single Daub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615396989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6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Double Coin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2.5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910731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7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XP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134110324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8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Double Daub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99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3.5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31745803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9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Double Credit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3.5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94514557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10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Super Charge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81811358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11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Star Square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174442760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12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Wild Daub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619932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13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Triple Daub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703861514"/>
                  </a:ext>
                </a:extLst>
              </a:tr>
              <a:tr h="222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14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Instant Win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947367873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006C4F-C914-48F4-A047-5051B2AB5C02}"/>
              </a:ext>
            </a:extLst>
          </p:cNvPr>
          <p:cNvSpPr/>
          <p:nvPr/>
        </p:nvSpPr>
        <p:spPr>
          <a:xfrm>
            <a:off x="6434137" y="1733938"/>
            <a:ext cx="5086350" cy="319886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086523E-64E0-41AA-A6F5-2976469C6B46}"/>
              </a:ext>
            </a:extLst>
          </p:cNvPr>
          <p:cNvSpPr/>
          <p:nvPr/>
        </p:nvSpPr>
        <p:spPr>
          <a:xfrm>
            <a:off x="6443662" y="4183450"/>
            <a:ext cx="5076825" cy="761319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갈매기형 수장 30">
            <a:extLst>
              <a:ext uri="{FF2B5EF4-FFF2-40B4-BE49-F238E27FC236}">
                <a16:creationId xmlns:a16="http://schemas.microsoft.com/office/drawing/2014/main" id="{8738F8C2-F8BC-4044-A75A-4D4A065F1A32}"/>
              </a:ext>
            </a:extLst>
          </p:cNvPr>
          <p:cNvSpPr/>
          <p:nvPr/>
        </p:nvSpPr>
        <p:spPr>
          <a:xfrm>
            <a:off x="6515243" y="4326886"/>
            <a:ext cx="258618" cy="475150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화살표: 갈매기형 수장 31">
            <a:extLst>
              <a:ext uri="{FF2B5EF4-FFF2-40B4-BE49-F238E27FC236}">
                <a16:creationId xmlns:a16="http://schemas.microsoft.com/office/drawing/2014/main" id="{2702F610-2FE2-4F23-928A-8405F9B513CD}"/>
              </a:ext>
            </a:extLst>
          </p:cNvPr>
          <p:cNvSpPr/>
          <p:nvPr/>
        </p:nvSpPr>
        <p:spPr>
          <a:xfrm>
            <a:off x="6716133" y="4326886"/>
            <a:ext cx="258618" cy="475150"/>
          </a:xfrm>
          <a:prstGeom prst="chevr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47954-192D-44B0-9203-F645401104EB}"/>
              </a:ext>
            </a:extLst>
          </p:cNvPr>
          <p:cNvSpPr txBox="1"/>
          <p:nvPr/>
        </p:nvSpPr>
        <p:spPr>
          <a:xfrm>
            <a:off x="6974750" y="4433565"/>
            <a:ext cx="4435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모든 가디언은 비슷한 스킬 가중치를 지니고 있음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17DCF9-A7F3-4E01-B319-BEC1FEC1C654}"/>
              </a:ext>
            </a:extLst>
          </p:cNvPr>
          <p:cNvSpPr txBox="1"/>
          <p:nvPr/>
        </p:nvSpPr>
        <p:spPr>
          <a:xfrm>
            <a:off x="6505718" y="1865205"/>
            <a:ext cx="490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</a:t>
            </a:r>
            <a:r>
              <a:rPr lang="en-US" altLang="ko-KR" b="1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 </a:t>
            </a:r>
            <a:r>
              <a:rPr lang="ko-KR" altLang="en-US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스킬 세트 구성 목표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CC5BE1-D08C-43F8-8ED5-3FD136929874}"/>
              </a:ext>
            </a:extLst>
          </p:cNvPr>
          <p:cNvSpPr txBox="1"/>
          <p:nvPr/>
        </p:nvSpPr>
        <p:spPr>
          <a:xfrm>
            <a:off x="6515243" y="2350765"/>
            <a:ext cx="49045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가디언은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태생 등급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및 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‘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레벨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’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개념이 없음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모든 가디언이 동일한 능력을 가지도록 하고자 함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따라서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가디언의 스킬 세트의 가중치는 비슷하도록 설정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각 가디언 스킬 세트의 가중치는 비슷하더라도 실제 </a:t>
            </a:r>
            <a:r>
              <a:rPr lang="ko-KR" altLang="en-US" sz="1200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인게임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사용 스킬은 다르기 때문에</a:t>
            </a:r>
            <a:r>
              <a:rPr lang="en-US" altLang="ko-KR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sz="1200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많은 스킬을 사용하기 위해선 가디언을 수집해야 함</a:t>
            </a:r>
            <a:endParaRPr lang="en-US" altLang="ko-KR" sz="12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EED5D917-C2F1-4636-9623-2C92CF735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045807"/>
              </p:ext>
            </p:extLst>
          </p:nvPr>
        </p:nvGraphicFramePr>
        <p:xfrm>
          <a:off x="1993023" y="5239530"/>
          <a:ext cx="8022384" cy="1135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376">
                  <a:extLst>
                    <a:ext uri="{9D8B030D-6E8A-4147-A177-3AD203B41FA5}">
                      <a16:colId xmlns:a16="http://schemas.microsoft.com/office/drawing/2014/main" val="2531216969"/>
                    </a:ext>
                  </a:extLst>
                </a:gridCol>
                <a:gridCol w="891376">
                  <a:extLst>
                    <a:ext uri="{9D8B030D-6E8A-4147-A177-3AD203B41FA5}">
                      <a16:colId xmlns:a16="http://schemas.microsoft.com/office/drawing/2014/main" val="824235747"/>
                    </a:ext>
                  </a:extLst>
                </a:gridCol>
                <a:gridCol w="891376">
                  <a:extLst>
                    <a:ext uri="{9D8B030D-6E8A-4147-A177-3AD203B41FA5}">
                      <a16:colId xmlns:a16="http://schemas.microsoft.com/office/drawing/2014/main" val="1857400902"/>
                    </a:ext>
                  </a:extLst>
                </a:gridCol>
                <a:gridCol w="891376">
                  <a:extLst>
                    <a:ext uri="{9D8B030D-6E8A-4147-A177-3AD203B41FA5}">
                      <a16:colId xmlns:a16="http://schemas.microsoft.com/office/drawing/2014/main" val="208520363"/>
                    </a:ext>
                  </a:extLst>
                </a:gridCol>
                <a:gridCol w="891376">
                  <a:extLst>
                    <a:ext uri="{9D8B030D-6E8A-4147-A177-3AD203B41FA5}">
                      <a16:colId xmlns:a16="http://schemas.microsoft.com/office/drawing/2014/main" val="1016980221"/>
                    </a:ext>
                  </a:extLst>
                </a:gridCol>
                <a:gridCol w="891376">
                  <a:extLst>
                    <a:ext uri="{9D8B030D-6E8A-4147-A177-3AD203B41FA5}">
                      <a16:colId xmlns:a16="http://schemas.microsoft.com/office/drawing/2014/main" val="3100408315"/>
                    </a:ext>
                  </a:extLst>
                </a:gridCol>
                <a:gridCol w="891376">
                  <a:extLst>
                    <a:ext uri="{9D8B030D-6E8A-4147-A177-3AD203B41FA5}">
                      <a16:colId xmlns:a16="http://schemas.microsoft.com/office/drawing/2014/main" val="2872993770"/>
                    </a:ext>
                  </a:extLst>
                </a:gridCol>
                <a:gridCol w="891376">
                  <a:extLst>
                    <a:ext uri="{9D8B030D-6E8A-4147-A177-3AD203B41FA5}">
                      <a16:colId xmlns:a16="http://schemas.microsoft.com/office/drawing/2014/main" val="388663094"/>
                    </a:ext>
                  </a:extLst>
                </a:gridCol>
                <a:gridCol w="891376">
                  <a:extLst>
                    <a:ext uri="{9D8B030D-6E8A-4147-A177-3AD203B41FA5}">
                      <a16:colId xmlns:a16="http://schemas.microsoft.com/office/drawing/2014/main" val="3464753032"/>
                    </a:ext>
                  </a:extLst>
                </a:gridCol>
              </a:tblGrid>
              <a:tr h="140936">
                <a:tc rowSpan="5">
                  <a:txBody>
                    <a:bodyPr/>
                    <a:lstStyle/>
                    <a:p>
                      <a:pPr algn="ctr" rtl="0" fontAlgn="b"/>
                      <a:r>
                        <a:rPr lang="ko-KR" altLang="en-US" sz="12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프로토타입</a:t>
                      </a:r>
                      <a:endParaRPr lang="en-US" altLang="ko-KR" sz="12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algn="ctr" rtl="0" fontAlgn="b"/>
                      <a:r>
                        <a:rPr lang="ko-KR" altLang="en-US" sz="12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가디언</a:t>
                      </a:r>
                      <a:endParaRPr lang="en-US" altLang="ko-KR" sz="12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  <a:p>
                      <a:pPr algn="ctr" rtl="0" fontAlgn="b"/>
                      <a:r>
                        <a:rPr lang="ko-KR" altLang="en-US" sz="12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스킬 가중치</a:t>
                      </a:r>
                      <a:endParaRPr lang="en-US" sz="12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가디언 이름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2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3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4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5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6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가중치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1038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t"/>
                      <a:endParaRPr lang="en-US" sz="6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 A</a:t>
                      </a:r>
                      <a:endParaRPr lang="en-US" sz="600" b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Credit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Gem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Single Daub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XP Square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Super Charge</a:t>
                      </a:r>
                    </a:p>
                  </a:txBody>
                  <a:tcPr marL="76200" marR="76200" marT="76200" marB="762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Wild Daub</a:t>
                      </a:r>
                    </a:p>
                  </a:txBody>
                  <a:tcPr marL="76200" marR="76200" marT="76200" marB="76200">
                    <a:solidFill>
                      <a:srgbClr val="B07B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14</a:t>
                      </a: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918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t"/>
                      <a:endParaRPr lang="en-US" sz="600" b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 B</a:t>
                      </a:r>
                      <a:endParaRPr lang="en-US" sz="600" b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Credit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Treasure </a:t>
                      </a:r>
                      <a:r>
                        <a:rPr lang="en-US" sz="600" b="0" dirty="0" err="1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Sqaure</a:t>
                      </a:r>
                      <a:endParaRPr lang="en-US" sz="6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Single Daub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XP Square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Star Square</a:t>
                      </a:r>
                    </a:p>
                  </a:txBody>
                  <a:tcPr marL="76200" marR="76200" marT="76200" marB="762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Wild Daub</a:t>
                      </a:r>
                    </a:p>
                  </a:txBody>
                  <a:tcPr marL="76200" marR="76200" marT="76200" marB="76200">
                    <a:solidFill>
                      <a:srgbClr val="B07B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14</a:t>
                      </a: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1028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t"/>
                      <a:endParaRPr lang="en-US" sz="600" b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 C</a:t>
                      </a:r>
                      <a:endParaRPr lang="en-US" sz="600" b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Credit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Coin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Single Daub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Double Coin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Double Daub</a:t>
                      </a:r>
                    </a:p>
                  </a:txBody>
                  <a:tcPr marL="76200" marR="76200" marT="76200" marB="762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Triple Daub</a:t>
                      </a:r>
                    </a:p>
                  </a:txBody>
                  <a:tcPr marL="76200" marR="76200" marT="76200" marB="76200">
                    <a:solidFill>
                      <a:srgbClr val="B07B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15</a:t>
                      </a: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0206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fontAlgn="t"/>
                      <a:endParaRPr lang="en-US" sz="6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 D</a:t>
                      </a:r>
                      <a:endParaRPr lang="en-US" sz="600" b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Credit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Gem Sqaure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Single Daub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XP Square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Double Credit</a:t>
                      </a:r>
                    </a:p>
                  </a:txBody>
                  <a:tcPr marL="76200" marR="76200" marT="76200" marB="762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Instant Win</a:t>
                      </a:r>
                    </a:p>
                  </a:txBody>
                  <a:tcPr marL="76200" marR="76200" marT="76200" marB="76200">
                    <a:solidFill>
                      <a:srgbClr val="B07B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600" b="0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14.5</a:t>
                      </a:r>
                    </a:p>
                  </a:txBody>
                  <a:tcPr marL="76200" marR="76200" marT="76200" marB="762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8897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669BF67-A25D-4F03-B46B-7AA1DB7F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16</a:t>
            </a:fld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4927014-2C68-4C25-BB1E-17515E2C3ACF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19" name="Object 52">
              <a:extLst>
                <a:ext uri="{FF2B5EF4-FFF2-40B4-BE49-F238E27FC236}">
                  <a16:creationId xmlns:a16="http://schemas.microsoft.com/office/drawing/2014/main" id="{801E45B5-267A-4D5C-ACA4-000FE723BCA2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7.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세트 설정 기준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4" name="Object 52">
              <a:extLst>
                <a:ext uri="{FF2B5EF4-FFF2-40B4-BE49-F238E27FC236}">
                  <a16:creationId xmlns:a16="http://schemas.microsoft.com/office/drawing/2014/main" id="{5A46D4F2-451E-4217-965A-481FEABA8AB3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03A0A4D-A0C0-4181-9720-DB2F66E0C538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1174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E49593-C991-4229-A64E-F9B4A8761B78}"/>
              </a:ext>
            </a:extLst>
          </p:cNvPr>
          <p:cNvSpPr txBox="1"/>
          <p:nvPr/>
        </p:nvSpPr>
        <p:spPr>
          <a:xfrm>
            <a:off x="2175069" y="1154583"/>
            <a:ext cx="784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각 가디언의 스킬은 </a:t>
            </a:r>
            <a:r>
              <a:rPr lang="en-US" altLang="ko-KR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GUARDIAN_DB_INFO </a:t>
            </a:r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테이블에서 제어</a:t>
            </a:r>
            <a:endParaRPr lang="en-US" altLang="ko-KR" sz="1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aphicFrame>
        <p:nvGraphicFramePr>
          <p:cNvPr id="21" name="표 23">
            <a:extLst>
              <a:ext uri="{FF2B5EF4-FFF2-40B4-BE49-F238E27FC236}">
                <a16:creationId xmlns:a16="http://schemas.microsoft.com/office/drawing/2014/main" id="{BE8BFB16-277C-4FEB-9E58-ED5E9FC0E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288867"/>
              </p:ext>
            </p:extLst>
          </p:nvPr>
        </p:nvGraphicFramePr>
        <p:xfrm>
          <a:off x="962432" y="1528401"/>
          <a:ext cx="10429470" cy="40549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830">
                  <a:extLst>
                    <a:ext uri="{9D8B030D-6E8A-4147-A177-3AD203B41FA5}">
                      <a16:colId xmlns:a16="http://schemas.microsoft.com/office/drawing/2014/main" val="506522482"/>
                    </a:ext>
                  </a:extLst>
                </a:gridCol>
                <a:gridCol w="1158830">
                  <a:extLst>
                    <a:ext uri="{9D8B030D-6E8A-4147-A177-3AD203B41FA5}">
                      <a16:colId xmlns:a16="http://schemas.microsoft.com/office/drawing/2014/main" val="1220082183"/>
                    </a:ext>
                  </a:extLst>
                </a:gridCol>
                <a:gridCol w="1158830">
                  <a:extLst>
                    <a:ext uri="{9D8B030D-6E8A-4147-A177-3AD203B41FA5}">
                      <a16:colId xmlns:a16="http://schemas.microsoft.com/office/drawing/2014/main" val="3943658821"/>
                    </a:ext>
                  </a:extLst>
                </a:gridCol>
                <a:gridCol w="1158830">
                  <a:extLst>
                    <a:ext uri="{9D8B030D-6E8A-4147-A177-3AD203B41FA5}">
                      <a16:colId xmlns:a16="http://schemas.microsoft.com/office/drawing/2014/main" val="3495901337"/>
                    </a:ext>
                  </a:extLst>
                </a:gridCol>
                <a:gridCol w="1158830">
                  <a:extLst>
                    <a:ext uri="{9D8B030D-6E8A-4147-A177-3AD203B41FA5}">
                      <a16:colId xmlns:a16="http://schemas.microsoft.com/office/drawing/2014/main" val="3078111668"/>
                    </a:ext>
                  </a:extLst>
                </a:gridCol>
                <a:gridCol w="1158830">
                  <a:extLst>
                    <a:ext uri="{9D8B030D-6E8A-4147-A177-3AD203B41FA5}">
                      <a16:colId xmlns:a16="http://schemas.microsoft.com/office/drawing/2014/main" val="651906521"/>
                    </a:ext>
                  </a:extLst>
                </a:gridCol>
                <a:gridCol w="1158830">
                  <a:extLst>
                    <a:ext uri="{9D8B030D-6E8A-4147-A177-3AD203B41FA5}">
                      <a16:colId xmlns:a16="http://schemas.microsoft.com/office/drawing/2014/main" val="1618147342"/>
                    </a:ext>
                  </a:extLst>
                </a:gridCol>
                <a:gridCol w="1158830">
                  <a:extLst>
                    <a:ext uri="{9D8B030D-6E8A-4147-A177-3AD203B41FA5}">
                      <a16:colId xmlns:a16="http://schemas.microsoft.com/office/drawing/2014/main" val="1567302852"/>
                    </a:ext>
                  </a:extLst>
                </a:gridCol>
                <a:gridCol w="1158830">
                  <a:extLst>
                    <a:ext uri="{9D8B030D-6E8A-4147-A177-3AD203B41FA5}">
                      <a16:colId xmlns:a16="http://schemas.microsoft.com/office/drawing/2014/main" val="3992194554"/>
                    </a:ext>
                  </a:extLst>
                </a:gridCol>
              </a:tblGrid>
              <a:tr h="18455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IDX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GUARDIAN_NAME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GUARDIAN_INTIMACY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GUARDIAN_SKILL_1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GUARDIAN_SKILL_2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GUARDIAN_SKILL_3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GUARDIAN_SKILL_4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GUARDIAN_SKILL_5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GUARDIAN_SKILL_6</a:t>
                      </a: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809428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A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67225615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A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24091003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A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653877518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A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33721079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5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A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615396989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6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11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5910731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7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11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134110324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8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11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31745803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9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11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94514557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10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B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6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11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12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81811358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11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C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8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14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174442760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12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C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8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14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218619932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13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C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8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14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703861514"/>
                  </a:ext>
                </a:extLst>
              </a:tr>
              <a:tr h="2764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14</a:t>
                      </a:r>
                      <a:endParaRPr lang="ko-KR" altLang="en-US" sz="8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Guardian C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5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7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8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14</a:t>
                      </a:r>
                      <a:endParaRPr lang="ko-KR" altLang="en-US" sz="800" b="0" dirty="0">
                        <a:effectLst/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947367873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67D5D849-38F1-4CFA-98B8-DC6E3A29C618}"/>
              </a:ext>
            </a:extLst>
          </p:cNvPr>
          <p:cNvSpPr/>
          <p:nvPr/>
        </p:nvSpPr>
        <p:spPr>
          <a:xfrm>
            <a:off x="6096000" y="5806911"/>
            <a:ext cx="133350" cy="1333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0B5B946-5D8D-4E0C-9401-23A8324381AB}"/>
              </a:ext>
            </a:extLst>
          </p:cNvPr>
          <p:cNvSpPr/>
          <p:nvPr/>
        </p:nvSpPr>
        <p:spPr>
          <a:xfrm>
            <a:off x="6095238" y="6023978"/>
            <a:ext cx="133350" cy="1333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4D374BD-08C8-4D08-8F7D-0AEE98616D3D}"/>
              </a:ext>
            </a:extLst>
          </p:cNvPr>
          <p:cNvSpPr/>
          <p:nvPr/>
        </p:nvSpPr>
        <p:spPr>
          <a:xfrm>
            <a:off x="6095238" y="6241045"/>
            <a:ext cx="133350" cy="1333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FA8F33-67CB-48F1-A450-8EAB721BAEC7}"/>
              </a:ext>
            </a:extLst>
          </p:cNvPr>
          <p:cNvSpPr/>
          <p:nvPr/>
        </p:nvSpPr>
        <p:spPr>
          <a:xfrm>
            <a:off x="4410075" y="1497132"/>
            <a:ext cx="7029450" cy="41243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7567021-A73B-4260-9782-B18A55866136}"/>
              </a:ext>
            </a:extLst>
          </p:cNvPr>
          <p:cNvSpPr/>
          <p:nvPr/>
        </p:nvSpPr>
        <p:spPr>
          <a:xfrm>
            <a:off x="9248775" y="1189356"/>
            <a:ext cx="2228850" cy="307777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 스킬 슬롯 </a:t>
            </a:r>
            <a:r>
              <a:rPr lang="en-US" altLang="ko-KR" sz="11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 ~ 6 </a:t>
            </a:r>
            <a:endParaRPr lang="ko-KR" altLang="en-US" sz="1100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589456-F371-4E34-8011-65B9DA514AA7}"/>
              </a:ext>
            </a:extLst>
          </p:cNvPr>
          <p:cNvSpPr/>
          <p:nvPr/>
        </p:nvSpPr>
        <p:spPr>
          <a:xfrm>
            <a:off x="4457700" y="2811583"/>
            <a:ext cx="6896100" cy="285750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B4CDE47-128D-4C1C-A9AC-1832B41A7C51}"/>
              </a:ext>
            </a:extLst>
          </p:cNvPr>
          <p:cNvSpPr/>
          <p:nvPr/>
        </p:nvSpPr>
        <p:spPr>
          <a:xfrm>
            <a:off x="4438650" y="2380968"/>
            <a:ext cx="2752725" cy="459189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각 가디언 슬롯 열</a:t>
            </a:r>
            <a:r>
              <a:rPr lang="en-US" altLang="ko-KR" sz="11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(Column)</a:t>
            </a:r>
            <a:r>
              <a:rPr lang="ko-KR" altLang="en-US" sz="11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에</a:t>
            </a:r>
            <a:endParaRPr lang="en-US" altLang="ko-KR" sz="1100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11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SKILL_IDX</a:t>
            </a:r>
            <a:r>
              <a:rPr lang="ko-KR" altLang="en-US" sz="11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기입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90EFE2-D51C-47EA-94D0-10705A40A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17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92F1E36-7739-4935-9757-6DC4A1163C7F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18" name="Object 52">
              <a:extLst>
                <a:ext uri="{FF2B5EF4-FFF2-40B4-BE49-F238E27FC236}">
                  <a16:creationId xmlns:a16="http://schemas.microsoft.com/office/drawing/2014/main" id="{9CE82187-71A7-4587-BBFA-799BBEDA738F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8.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세트 설정 방식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6" name="Object 52">
              <a:extLst>
                <a:ext uri="{FF2B5EF4-FFF2-40B4-BE49-F238E27FC236}">
                  <a16:creationId xmlns:a16="http://schemas.microsoft.com/office/drawing/2014/main" id="{7F6AE7FE-1C3E-46DB-89EE-973BC524EFA9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8EFA783-1C8E-4ACC-871A-78ECA77A1862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9242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447088CC-2F90-4F9C-B354-27ED53BAB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760544"/>
              </p:ext>
            </p:extLst>
          </p:nvPr>
        </p:nvGraphicFramePr>
        <p:xfrm>
          <a:off x="1738966" y="5018667"/>
          <a:ext cx="8867775" cy="1333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6825">
                  <a:extLst>
                    <a:ext uri="{9D8B030D-6E8A-4147-A177-3AD203B41FA5}">
                      <a16:colId xmlns:a16="http://schemas.microsoft.com/office/drawing/2014/main" val="824235747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1857400902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852036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1016980221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3100408315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872993770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388663094"/>
                    </a:ext>
                  </a:extLst>
                </a:gridCol>
              </a:tblGrid>
              <a:tr h="17263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가디언 이름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2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3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4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5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6</a:t>
                      </a:r>
                      <a:r>
                        <a:rPr lang="ko-KR" alt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9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103856"/>
                  </a:ext>
                </a:extLst>
              </a:tr>
              <a:tr h="249143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 A</a:t>
                      </a:r>
                      <a:endParaRPr lang="en-US" sz="900" b="0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Credit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Gem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Single Daub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XP Square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Super Charge</a:t>
                      </a:r>
                    </a:p>
                  </a:txBody>
                  <a:tcPr marL="76200" marR="76200" marT="76200" marB="762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Wild Daub</a:t>
                      </a:r>
                    </a:p>
                  </a:txBody>
                  <a:tcPr marL="76200" marR="76200" marT="76200" marB="76200">
                    <a:solidFill>
                      <a:srgbClr val="B07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91812"/>
                  </a:ext>
                </a:extLst>
              </a:tr>
              <a:tr h="249143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 B</a:t>
                      </a:r>
                      <a:endParaRPr lang="en-US" sz="900" b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Credit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Treasure Sqaure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Single Daub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XP Square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Star Square</a:t>
                      </a:r>
                    </a:p>
                  </a:txBody>
                  <a:tcPr marL="76200" marR="76200" marT="76200" marB="762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Wild Daub</a:t>
                      </a:r>
                    </a:p>
                  </a:txBody>
                  <a:tcPr marL="76200" marR="76200" marT="76200" marB="76200">
                    <a:solidFill>
                      <a:srgbClr val="B07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102859"/>
                  </a:ext>
                </a:extLst>
              </a:tr>
              <a:tr h="249143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 C</a:t>
                      </a:r>
                      <a:endParaRPr lang="en-US" sz="900" b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Credit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Coin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Single Daub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Double Coin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Double Daub</a:t>
                      </a:r>
                    </a:p>
                  </a:txBody>
                  <a:tcPr marL="76200" marR="76200" marT="76200" marB="762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Triple Daub</a:t>
                      </a:r>
                    </a:p>
                  </a:txBody>
                  <a:tcPr marL="76200" marR="76200" marT="76200" marB="76200">
                    <a:solidFill>
                      <a:srgbClr val="B07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020653"/>
                  </a:ext>
                </a:extLst>
              </a:tr>
              <a:tr h="249143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Guardian D</a:t>
                      </a:r>
                      <a:endParaRPr lang="en-US" sz="900" b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76200" marR="76200" marT="76200" marB="7620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Credit Square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Gem Sqaure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Single Daub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XP Square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Double Credit</a:t>
                      </a:r>
                    </a:p>
                  </a:txBody>
                  <a:tcPr marL="76200" marR="76200" marT="76200" marB="762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Instant Win</a:t>
                      </a:r>
                    </a:p>
                  </a:txBody>
                  <a:tcPr marL="76200" marR="76200" marT="76200" marB="76200">
                    <a:solidFill>
                      <a:srgbClr val="B07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288978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3873BB7-25BD-4F81-9DBF-480667343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922" y="1848072"/>
            <a:ext cx="2253150" cy="2666772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F5811B78-0901-442A-B8B3-DDEBD8F95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488" y="1848072"/>
            <a:ext cx="2253150" cy="267765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BBFB3F1-89FB-4604-890E-119E55B23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87" y="1848072"/>
            <a:ext cx="2257739" cy="268311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D72C4AD-CB8C-4377-8ED8-B04A75574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7312" y="1848072"/>
            <a:ext cx="2257739" cy="2677657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787DC8B-6EC7-45D0-AC93-E897BD712368}"/>
              </a:ext>
            </a:extLst>
          </p:cNvPr>
          <p:cNvSpPr/>
          <p:nvPr/>
        </p:nvSpPr>
        <p:spPr>
          <a:xfrm>
            <a:off x="1504950" y="1545225"/>
            <a:ext cx="1219200" cy="2742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Guardian A</a:t>
            </a:r>
            <a:endParaRPr lang="ko-KR" altLang="en-US" sz="11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4C7DC6D-C306-4233-9FEC-199D1D866E95}"/>
              </a:ext>
            </a:extLst>
          </p:cNvPr>
          <p:cNvSpPr/>
          <p:nvPr/>
        </p:nvSpPr>
        <p:spPr>
          <a:xfrm>
            <a:off x="3971925" y="1545225"/>
            <a:ext cx="1219200" cy="2742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Guardian B</a:t>
            </a:r>
            <a:endParaRPr lang="ko-KR" altLang="en-US" sz="11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F02E5C2-D970-4212-9D36-682428777165}"/>
              </a:ext>
            </a:extLst>
          </p:cNvPr>
          <p:cNvSpPr/>
          <p:nvPr/>
        </p:nvSpPr>
        <p:spPr>
          <a:xfrm>
            <a:off x="6400800" y="1545225"/>
            <a:ext cx="1219200" cy="2742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Guardian C</a:t>
            </a:r>
            <a:endParaRPr lang="ko-KR" altLang="en-US" sz="11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4C0CE78-C04F-4D48-B7B1-B22488FE7F9B}"/>
              </a:ext>
            </a:extLst>
          </p:cNvPr>
          <p:cNvSpPr/>
          <p:nvPr/>
        </p:nvSpPr>
        <p:spPr>
          <a:xfrm>
            <a:off x="8896350" y="1545225"/>
            <a:ext cx="1219200" cy="2742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Guardian D</a:t>
            </a:r>
            <a:endParaRPr lang="ko-KR" altLang="en-US" sz="11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C400BA6-CCFD-4EE5-914C-8781B2C8F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F581A6-2922-4721-8BD7-8592892E7EE1}"/>
              </a:ext>
            </a:extLst>
          </p:cNvPr>
          <p:cNvSpPr txBox="1"/>
          <p:nvPr/>
        </p:nvSpPr>
        <p:spPr>
          <a:xfrm>
            <a:off x="2175069" y="884195"/>
            <a:ext cx="784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프로토타입 버전의 가디언 네 마리는 다음과 같은 스킬 세트를 지님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232693F-980E-4747-B621-80DB538659D9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19" name="Object 52">
              <a:extLst>
                <a:ext uri="{FF2B5EF4-FFF2-40B4-BE49-F238E27FC236}">
                  <a16:creationId xmlns:a16="http://schemas.microsoft.com/office/drawing/2014/main" id="{878F9755-FAE2-4F4F-955E-A3384AE8B812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9.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세트 </a:t>
              </a:r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(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프로토타입</a:t>
              </a:r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)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24" name="Object 52">
              <a:extLst>
                <a:ext uri="{FF2B5EF4-FFF2-40B4-BE49-F238E27FC236}">
                  <a16:creationId xmlns:a16="http://schemas.microsoft.com/office/drawing/2014/main" id="{8F961C94-8CD2-46C5-9CA9-6A89ABEA141F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3C2FC0F-FB86-4B0C-9CD2-B3CFC1E20C39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4791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19">
            <a:extLst>
              <a:ext uri="{FF2B5EF4-FFF2-40B4-BE49-F238E27FC236}">
                <a16:creationId xmlns:a16="http://schemas.microsoft.com/office/drawing/2014/main" id="{AA167F97-80B4-4805-9A19-84A3ADEF8C7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5904" y="668752"/>
            <a:ext cx="11278669" cy="11796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E49593-C991-4229-A64E-F9B4A8761B78}"/>
              </a:ext>
            </a:extLst>
          </p:cNvPr>
          <p:cNvSpPr txBox="1"/>
          <p:nvPr/>
        </p:nvSpPr>
        <p:spPr>
          <a:xfrm>
            <a:off x="2175069" y="936922"/>
            <a:ext cx="7840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가디언의 스킬 등급에 가중치를 두어 스킬 등급별 등장 확률 제어</a:t>
            </a:r>
            <a:endParaRPr lang="en-US" altLang="ko-KR" sz="1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aphicFrame>
        <p:nvGraphicFramePr>
          <p:cNvPr id="18" name="표 23">
            <a:extLst>
              <a:ext uri="{FF2B5EF4-FFF2-40B4-BE49-F238E27FC236}">
                <a16:creationId xmlns:a16="http://schemas.microsoft.com/office/drawing/2014/main" id="{68E8DD22-64BE-40B9-8A1B-E7C7FB1AE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326623"/>
              </p:ext>
            </p:extLst>
          </p:nvPr>
        </p:nvGraphicFramePr>
        <p:xfrm>
          <a:off x="790575" y="3087283"/>
          <a:ext cx="3400019" cy="1481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769">
                  <a:extLst>
                    <a:ext uri="{9D8B030D-6E8A-4147-A177-3AD203B41FA5}">
                      <a16:colId xmlns:a16="http://schemas.microsoft.com/office/drawing/2014/main" val="50652248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1220082183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156252665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SKILL_RARITY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스킬 등급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가중치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809428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Common</a:t>
                      </a:r>
                    </a:p>
                  </a:txBody>
                  <a:tcPr marL="28575" marR="28575" marT="19050" marB="1905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467225615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Uncommon</a:t>
                      </a:r>
                    </a:p>
                  </a:txBody>
                  <a:tcPr marL="28575" marR="28575" marT="19050" marB="1905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150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3824091003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Rare</a:t>
                      </a:r>
                    </a:p>
                  </a:txBody>
                  <a:tcPr marL="28575" marR="28575" marT="19050" marB="190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200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653877518"/>
                  </a:ext>
                </a:extLst>
              </a:tr>
              <a:tr h="313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4</a:t>
                      </a:r>
                      <a:endParaRPr lang="ko-KR" altLang="en-US" sz="900" b="0" dirty="0">
                        <a:latin typeface="G마켓 산스 TTF Medium" panose="02000000000000000000" pitchFamily="2" charset="-127"/>
                        <a:ea typeface="G마켓 산스 TTF Medium" panose="02000000000000000000" pitchFamily="2" charset="-127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rgbClr val="B07BD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Epic</a:t>
                      </a:r>
                    </a:p>
                  </a:txBody>
                  <a:tcPr marL="28575" marR="28575" marT="19050" marB="19050" anchor="ctr">
                    <a:solidFill>
                      <a:srgbClr val="B07BD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9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  <a:cs typeface="Calibri" panose="020F0502020204030204" pitchFamily="34" charset="0"/>
                        </a:rPr>
                        <a:t>300</a:t>
                      </a: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633721079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ADA2888E-CDDD-4C0D-9DD7-CFA6F3171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083113"/>
              </p:ext>
            </p:extLst>
          </p:nvPr>
        </p:nvGraphicFramePr>
        <p:xfrm>
          <a:off x="4751679" y="3087283"/>
          <a:ext cx="6649746" cy="526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8291">
                  <a:extLst>
                    <a:ext uri="{9D8B030D-6E8A-4147-A177-3AD203B41FA5}">
                      <a16:colId xmlns:a16="http://schemas.microsoft.com/office/drawing/2014/main" val="1857400902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208520363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1016980221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3100408315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2872993770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388663094"/>
                    </a:ext>
                  </a:extLst>
                </a:gridCol>
              </a:tblGrid>
              <a:tr h="20878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2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3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4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5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6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103856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100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150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150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200</a:t>
                      </a:r>
                    </a:p>
                  </a:txBody>
                  <a:tcPr marL="76200" marR="76200" marT="76200" marB="762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300</a:t>
                      </a:r>
                    </a:p>
                  </a:txBody>
                  <a:tcPr marL="76200" marR="76200" marT="76200" marB="76200">
                    <a:solidFill>
                      <a:srgbClr val="B07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91812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4318A78D-0661-4BE9-8C4F-684143C8C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176116"/>
              </p:ext>
            </p:extLst>
          </p:nvPr>
        </p:nvGraphicFramePr>
        <p:xfrm>
          <a:off x="4751679" y="4041742"/>
          <a:ext cx="6649746" cy="5269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8291">
                  <a:extLst>
                    <a:ext uri="{9D8B030D-6E8A-4147-A177-3AD203B41FA5}">
                      <a16:colId xmlns:a16="http://schemas.microsoft.com/office/drawing/2014/main" val="1857400902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208520363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1016980221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3100408315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2872993770"/>
                    </a:ext>
                  </a:extLst>
                </a:gridCol>
                <a:gridCol w="1108291">
                  <a:extLst>
                    <a:ext uri="{9D8B030D-6E8A-4147-A177-3AD203B41FA5}">
                      <a16:colId xmlns:a16="http://schemas.microsoft.com/office/drawing/2014/main" val="388663094"/>
                    </a:ext>
                  </a:extLst>
                </a:gridCol>
              </a:tblGrid>
              <a:tr h="20878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1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2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3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4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5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6</a:t>
                      </a:r>
                      <a:r>
                        <a:rPr lang="ko-KR" altLang="en-US" sz="800" b="1" dirty="0">
                          <a:effectLst/>
                          <a:latin typeface="G마켓 산스 TTF Bold" panose="02000000000000000000" pitchFamily="2" charset="-127"/>
                          <a:ea typeface="G마켓 산스 TTF Bold" panose="02000000000000000000" pitchFamily="2" charset="-127"/>
                        </a:rPr>
                        <a:t>번 슬롯 스킬</a:t>
                      </a:r>
                      <a:endParaRPr lang="en-US" sz="800" b="1" dirty="0">
                        <a:effectLst/>
                        <a:latin typeface="G마켓 산스 TTF Bold" panose="02000000000000000000" pitchFamily="2" charset="-127"/>
                        <a:ea typeface="G마켓 산스 TTF Bold" panose="02000000000000000000" pitchFamily="2" charset="-127"/>
                      </a:endParaRPr>
                    </a:p>
                  </a:txBody>
                  <a:tcPr marL="28575" marR="28575" marT="19050" marB="190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103856"/>
                  </a:ext>
                </a:extLst>
              </a:tr>
              <a:tr h="3181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10%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10%</a:t>
                      </a:r>
                    </a:p>
                  </a:txBody>
                  <a:tcPr marL="76200" marR="76200" marT="76200" marB="762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15%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15%</a:t>
                      </a:r>
                    </a:p>
                  </a:txBody>
                  <a:tcPr marL="76200" marR="76200" marT="76200" marB="7620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20%</a:t>
                      </a:r>
                    </a:p>
                  </a:txBody>
                  <a:tcPr marL="76200" marR="76200" marT="76200" marB="762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dirty="0">
                          <a:effectLst/>
                          <a:latin typeface="G마켓 산스 TTF Medium" panose="02000000000000000000" pitchFamily="2" charset="-127"/>
                          <a:ea typeface="G마켓 산스 TTF Medium" panose="02000000000000000000" pitchFamily="2" charset="-127"/>
                        </a:rPr>
                        <a:t>30%</a:t>
                      </a:r>
                    </a:p>
                  </a:txBody>
                  <a:tcPr marL="76200" marR="76200" marT="76200" marB="76200">
                    <a:solidFill>
                      <a:srgbClr val="B07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9181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957BBF6-DB52-4004-A70C-733E53FD7E21}"/>
              </a:ext>
            </a:extLst>
          </p:cNvPr>
          <p:cNvSpPr txBox="1"/>
          <p:nvPr/>
        </p:nvSpPr>
        <p:spPr>
          <a:xfrm>
            <a:off x="4190594" y="2783189"/>
            <a:ext cx="7840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스킬 등급별 가중치 적용</a:t>
            </a:r>
            <a:endParaRPr lang="en-US" altLang="ko-KR" sz="12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85482F-CE93-4278-A24A-CA0C587411D5}"/>
              </a:ext>
            </a:extLst>
          </p:cNvPr>
          <p:cNvSpPr txBox="1"/>
          <p:nvPr/>
        </p:nvSpPr>
        <p:spPr>
          <a:xfrm>
            <a:off x="4190594" y="3737290"/>
            <a:ext cx="7840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가중치에 따른 스킬 등장 확률</a:t>
            </a:r>
            <a:endParaRPr lang="en-US" altLang="ko-KR" sz="11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DB1A96-4325-4A77-999F-B542DB3187F1}"/>
              </a:ext>
            </a:extLst>
          </p:cNvPr>
          <p:cNvSpPr/>
          <p:nvPr/>
        </p:nvSpPr>
        <p:spPr>
          <a:xfrm>
            <a:off x="2962275" y="3041648"/>
            <a:ext cx="1276350" cy="15525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57C0E55-C1DA-4D96-BD7F-A410F433DD41}"/>
              </a:ext>
            </a:extLst>
          </p:cNvPr>
          <p:cNvSpPr/>
          <p:nvPr/>
        </p:nvSpPr>
        <p:spPr>
          <a:xfrm>
            <a:off x="2522829" y="2600291"/>
            <a:ext cx="2228850" cy="425459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가중치 조절하여</a:t>
            </a:r>
            <a:endParaRPr lang="en-US" altLang="ko-KR" sz="1100" b="1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1100" b="1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스킬 등장 확률 제어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68414-C826-483C-A66B-18596613B923}"/>
              </a:ext>
            </a:extLst>
          </p:cNvPr>
          <p:cNvSpPr txBox="1"/>
          <p:nvPr/>
        </p:nvSpPr>
        <p:spPr>
          <a:xfrm>
            <a:off x="4190594" y="4718888"/>
            <a:ext cx="78403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각 스킬의 등장 확률은 다음과 같이 계산 </a:t>
            </a:r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</a:p>
          <a:p>
            <a:pPr algn="ctr"/>
            <a:r>
              <a:rPr lang="en-US" altLang="ko-KR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</a:t>
            </a:r>
            <a:r>
              <a:rPr lang="ko-KR" altLang="en-US" sz="11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번째 슬롯의 스킬 가중치 </a:t>
            </a:r>
            <a:r>
              <a:rPr lang="en-US" altLang="ko-KR" sz="1100" b="0" i="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÷ </a:t>
            </a:r>
            <a:r>
              <a:rPr lang="ko-KR" altLang="en-US" sz="1100" b="0" i="0" dirty="0"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모든 스킬 슬롯의 가중치 합</a:t>
            </a:r>
            <a:endParaRPr lang="en-US" altLang="ko-KR" sz="11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F67C3F-3DEF-406C-A08F-D2564D01E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62DB-8117-4A4E-81D5-7925590A0D95}" type="slidenum">
              <a:rPr lang="ko-KR" altLang="en-US" smtClean="0"/>
              <a:t>19</a:t>
            </a:fld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40A3F80-ED34-4F2D-9C59-53F0264F945E}"/>
              </a:ext>
            </a:extLst>
          </p:cNvPr>
          <p:cNvGrpSpPr/>
          <p:nvPr/>
        </p:nvGrpSpPr>
        <p:grpSpPr>
          <a:xfrm>
            <a:off x="455904" y="299420"/>
            <a:ext cx="4136445" cy="369332"/>
            <a:chOff x="455904" y="299420"/>
            <a:chExt cx="4136445" cy="369332"/>
          </a:xfrm>
        </p:grpSpPr>
        <p:sp>
          <p:nvSpPr>
            <p:cNvPr id="29" name="Object 52">
              <a:extLst>
                <a:ext uri="{FF2B5EF4-FFF2-40B4-BE49-F238E27FC236}">
                  <a16:creationId xmlns:a16="http://schemas.microsoft.com/office/drawing/2014/main" id="{15ACDBED-F5AA-45CB-AEC0-F16760E04E61}"/>
                </a:ext>
              </a:extLst>
            </p:cNvPr>
            <p:cNvSpPr txBox="1"/>
            <p:nvPr/>
          </p:nvSpPr>
          <p:spPr>
            <a:xfrm>
              <a:off x="1543815" y="357104"/>
              <a:ext cx="304853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10. </a:t>
              </a:r>
              <a:r>
                <a:rPr lang="ko-KR" altLang="en-US" sz="1200" dirty="0"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가디언 스킬 등장 확률</a:t>
              </a:r>
              <a:endParaRPr lang="en-US" sz="1200" dirty="0"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sp>
          <p:nvSpPr>
            <p:cNvPr id="30" name="Object 52">
              <a:extLst>
                <a:ext uri="{FF2B5EF4-FFF2-40B4-BE49-F238E27FC236}">
                  <a16:creationId xmlns:a16="http://schemas.microsoft.com/office/drawing/2014/main" id="{BC531E67-A5AF-4440-AD8D-CA45ED9CFB01}"/>
                </a:ext>
              </a:extLst>
            </p:cNvPr>
            <p:cNvSpPr txBox="1"/>
            <p:nvPr/>
          </p:nvSpPr>
          <p:spPr>
            <a:xfrm>
              <a:off x="455904" y="299420"/>
              <a:ext cx="2851874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ko-KR" altLang="en-US" dirty="0">
                  <a:solidFill>
                    <a:srgbClr val="FFC000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스킬 기획</a:t>
              </a:r>
              <a:endParaRPr lang="en-US" dirty="0">
                <a:solidFill>
                  <a:srgbClr val="FFC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D321D06-321E-43F0-8456-562C3DFF0456}"/>
              </a:ext>
            </a:extLst>
          </p:cNvPr>
          <p:cNvSpPr txBox="1"/>
          <p:nvPr/>
        </p:nvSpPr>
        <p:spPr>
          <a:xfrm>
            <a:off x="9448801" y="16254"/>
            <a:ext cx="2743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 문서에 기입된 수치는 더미 데이터입니다</a:t>
            </a:r>
            <a:r>
              <a:rPr lang="en-US" altLang="ko-KR" sz="1000" b="1" dirty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</a:t>
            </a:r>
            <a:endParaRPr lang="ko-KR" altLang="en-US" sz="1000" b="1" dirty="0">
              <a:solidFill>
                <a:srgbClr val="FF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2563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3524</Words>
  <Application>Microsoft Office PowerPoint</Application>
  <PresentationFormat>와이드스크린</PresentationFormat>
  <Paragraphs>1235</Paragraphs>
  <Slides>19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G마켓 산스 TTF Bold</vt:lpstr>
      <vt:lpstr>G마켓 산스 TTF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[콘텐츠] 가디언 스킬 기획서</dc:title>
  <dc:creator>Lee BKay</dc:creator>
  <cp:lastModifiedBy>Lee BKay</cp:lastModifiedBy>
  <cp:revision>664</cp:revision>
  <dcterms:created xsi:type="dcterms:W3CDTF">2023-05-22T16:17:17Z</dcterms:created>
  <dcterms:modified xsi:type="dcterms:W3CDTF">2023-05-29T14:07:36Z</dcterms:modified>
</cp:coreProperties>
</file>